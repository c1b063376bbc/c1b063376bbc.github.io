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5"/>
  </p:notesMasterIdLst>
  <p:sldIdLst>
    <p:sldId id="278" r:id="rId2"/>
    <p:sldId id="297" r:id="rId3"/>
    <p:sldId id="343" r:id="rId4"/>
    <p:sldId id="340" r:id="rId5"/>
    <p:sldId id="341" r:id="rId6"/>
    <p:sldId id="342" r:id="rId7"/>
    <p:sldId id="323" r:id="rId8"/>
    <p:sldId id="325" r:id="rId9"/>
    <p:sldId id="326" r:id="rId10"/>
    <p:sldId id="327" r:id="rId11"/>
    <p:sldId id="328" r:id="rId12"/>
    <p:sldId id="329" r:id="rId13"/>
    <p:sldId id="330" r:id="rId14"/>
    <p:sldId id="333" r:id="rId15"/>
    <p:sldId id="332" r:id="rId16"/>
    <p:sldId id="324" r:id="rId17"/>
    <p:sldId id="334" r:id="rId18"/>
    <p:sldId id="335" r:id="rId19"/>
    <p:sldId id="336" r:id="rId20"/>
    <p:sldId id="339" r:id="rId21"/>
    <p:sldId id="337" r:id="rId22"/>
    <p:sldId id="338" r:id="rId23"/>
    <p:sldId id="293" r:id="rId2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43"/>
    <p:restoredTop sz="96327" autoAdjust="0"/>
  </p:normalViewPr>
  <p:slideViewPr>
    <p:cSldViewPr snapToGrid="0" snapToObjects="1">
      <p:cViewPr varScale="1">
        <p:scale>
          <a:sx n="119" d="100"/>
          <a:sy n="119" d="100"/>
        </p:scale>
        <p:origin x="224" y="384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t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ctr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87627DF-68F7-963C-60C6-8E1B72B6E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9496" y="4114484"/>
            <a:ext cx="3493008" cy="878908"/>
          </a:xfrm>
        </p:spPr>
        <p:txBody>
          <a:bodyPr/>
          <a:lstStyle/>
          <a:p>
            <a:r>
              <a:rPr lang="en-TR" dirty="0"/>
              <a:t>Ar. Gör. Kardelen Altun</a:t>
            </a:r>
          </a:p>
          <a:p>
            <a:r>
              <a:rPr lang="en-TR" dirty="0"/>
              <a:t>kardelenaltun@gmail.com</a:t>
            </a:r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2635" y="1844879"/>
            <a:ext cx="6400800" cy="2506404"/>
          </a:xfrm>
        </p:spPr>
        <p:txBody>
          <a:bodyPr anchor="ctr"/>
          <a:lstStyle/>
          <a:p>
            <a:pPr algn="ctr">
              <a:lnSpc>
                <a:spcPct val="200000"/>
              </a:lnSpc>
            </a:pPr>
            <a:r>
              <a:rPr lang="en-US" sz="3600" b="1" dirty="0" err="1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Anayasa</a:t>
            </a:r>
            <a:r>
              <a:rPr lang="en-US" sz="3600" b="1" dirty="0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3600" b="1" dirty="0" err="1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Mahkemesinin</a:t>
            </a:r>
            <a:r>
              <a:rPr lang="en-US" sz="3600" b="1" dirty="0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3600" b="1" dirty="0" err="1">
                <a:solidFill>
                  <a:schemeClr val="accent6"/>
                </a:solidFill>
                <a:latin typeface="Sabon Next LT" panose="02000500000000000000" pitchFamily="2" charset="0"/>
                <a:cs typeface="Sabon Next LT" panose="02000500000000000000" pitchFamily="2" charset="0"/>
              </a:rPr>
              <a:t>Statüsü</a:t>
            </a:r>
            <a:endParaRPr lang="en-US" sz="3600" b="1" dirty="0">
              <a:solidFill>
                <a:schemeClr val="accent6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942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1B1F443-796E-EFAB-39CF-20A3FC5D6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7473" y="2095718"/>
            <a:ext cx="5693664" cy="217148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800" b="1" dirty="0"/>
              <a:t>Özel Mahkeme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800" b="1" dirty="0"/>
              <a:t>Negatif Yasa Koyucu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2800" b="1" dirty="0"/>
              <a:t>Anayasa Organı</a:t>
            </a:r>
          </a:p>
        </p:txBody>
      </p:sp>
    </p:spTree>
    <p:extLst>
      <p:ext uri="{BB962C8B-B14F-4D97-AF65-F5344CB8AC3E}">
        <p14:creationId xmlns:p14="http://schemas.microsoft.com/office/powerpoint/2010/main" val="2140393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m. 149/5 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4" y="2522481"/>
            <a:ext cx="6906873" cy="3121573"/>
          </a:xfrm>
        </p:spPr>
        <p:txBody>
          <a:bodyPr/>
          <a:lstStyle/>
          <a:p>
            <a:pPr algn="just"/>
            <a:r>
              <a:rPr lang="en-US" sz="1800" dirty="0" err="1">
                <a:effectLst/>
                <a:latin typeface="TimesNewRomanPSMT"/>
              </a:rPr>
              <a:t>Anayasa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Mahkemesinin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kuruluşu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Genel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Kurul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bölümlerin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yargılama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usulleri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Başkan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başkanvekilleri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üyelerin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disiplin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işleri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kanunla</a:t>
            </a:r>
            <a:r>
              <a:rPr lang="en-US" sz="1800" dirty="0">
                <a:effectLst/>
                <a:latin typeface="TimesNewRomanPSMT"/>
              </a:rPr>
              <a:t>; </a:t>
            </a:r>
            <a:r>
              <a:rPr lang="en-US" sz="1800" dirty="0" err="1">
                <a:effectLst/>
                <a:latin typeface="TimesNewRomanPSMT"/>
              </a:rPr>
              <a:t>Mahkemenin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çalışma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esasları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bölüm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komisyonların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oluşumu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işbölümu</a:t>
            </a:r>
            <a:r>
              <a:rPr lang="en-US" sz="1800" dirty="0">
                <a:effectLst/>
                <a:latin typeface="TimesNewRomanPSMT"/>
              </a:rPr>
              <a:t>̈ </a:t>
            </a:r>
            <a:r>
              <a:rPr lang="en-US" sz="1800" b="1" dirty="0" err="1">
                <a:effectLst/>
                <a:latin typeface="TimesNewRomanPSMT"/>
              </a:rPr>
              <a:t>kendi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b="1" dirty="0" err="1">
                <a:effectLst/>
                <a:latin typeface="TimesNewRomanPSMT"/>
              </a:rPr>
              <a:t>yapacağı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b="1" dirty="0" err="1">
                <a:effectLst/>
                <a:latin typeface="TimesNewRomanPSMT"/>
              </a:rPr>
              <a:t>İçtüzükle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düzenlenir</a:t>
            </a:r>
            <a:r>
              <a:rPr lang="en-US" sz="1800" dirty="0">
                <a:effectLst/>
                <a:latin typeface="TimesNewRomanPSMT"/>
              </a:rPr>
              <a:t>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83779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m. 153/6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4" y="2522481"/>
            <a:ext cx="6906873" cy="3121573"/>
          </a:xfrm>
        </p:spPr>
        <p:txBody>
          <a:bodyPr/>
          <a:lstStyle/>
          <a:p>
            <a:pPr algn="just"/>
            <a:r>
              <a:rPr lang="en-US" sz="1800" dirty="0" err="1">
                <a:effectLst/>
                <a:latin typeface="TimesNewRomanPSMT"/>
              </a:rPr>
              <a:t>Anayasa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Mahkemesi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kararları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Resmi</a:t>
            </a:r>
            <a:r>
              <a:rPr lang="en-US" sz="1800" dirty="0">
                <a:effectLst/>
                <a:latin typeface="TimesNewRomanPSMT"/>
              </a:rPr>
              <a:t>̂ </a:t>
            </a:r>
            <a:r>
              <a:rPr lang="en-US" sz="1800" dirty="0" err="1">
                <a:effectLst/>
                <a:latin typeface="TimesNewRomanPSMT"/>
              </a:rPr>
              <a:t>Gazetede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hemen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yayımlanır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b="1" dirty="0" err="1">
                <a:effectLst/>
                <a:latin typeface="TimesNewRomanPSMT"/>
              </a:rPr>
              <a:t>yasama</a:t>
            </a:r>
            <a:r>
              <a:rPr lang="en-US" sz="1800" b="1" dirty="0">
                <a:effectLst/>
                <a:latin typeface="TimesNewRomanPSMT"/>
              </a:rPr>
              <a:t>, </a:t>
            </a:r>
            <a:r>
              <a:rPr lang="en-US" sz="1800" b="1" dirty="0" err="1">
                <a:effectLst/>
                <a:latin typeface="TimesNewRomanPSMT"/>
              </a:rPr>
              <a:t>yürütme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b="1" dirty="0" err="1">
                <a:effectLst/>
                <a:latin typeface="TimesNewRomanPSMT"/>
              </a:rPr>
              <a:t>ve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b="1" dirty="0" err="1">
                <a:effectLst/>
                <a:latin typeface="TimesNewRomanPSMT"/>
              </a:rPr>
              <a:t>yargı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b="1" dirty="0" err="1">
                <a:effectLst/>
                <a:latin typeface="TimesNewRomanPSMT"/>
              </a:rPr>
              <a:t>organlarını</a:t>
            </a:r>
            <a:r>
              <a:rPr lang="en-US" sz="1800" b="1" dirty="0">
                <a:effectLst/>
                <a:latin typeface="TimesNewRomanPSMT"/>
              </a:rPr>
              <a:t>, </a:t>
            </a:r>
            <a:r>
              <a:rPr lang="en-US" sz="1800" b="1" dirty="0" err="1">
                <a:effectLst/>
                <a:latin typeface="TimesNewRomanPSMT"/>
              </a:rPr>
              <a:t>idare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b="1" dirty="0" err="1">
                <a:effectLst/>
                <a:latin typeface="TimesNewRomanPSMT"/>
              </a:rPr>
              <a:t>makamlarını</a:t>
            </a:r>
            <a:r>
              <a:rPr lang="en-US" sz="1800" b="1" dirty="0">
                <a:effectLst/>
                <a:latin typeface="TimesNewRomanPSMT"/>
              </a:rPr>
              <a:t>, </a:t>
            </a:r>
            <a:r>
              <a:rPr lang="en-US" sz="1800" b="1" dirty="0" err="1">
                <a:effectLst/>
                <a:latin typeface="TimesNewRomanPSMT"/>
              </a:rPr>
              <a:t>gerçek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b="1" dirty="0" err="1">
                <a:effectLst/>
                <a:latin typeface="TimesNewRomanPSMT"/>
              </a:rPr>
              <a:t>ve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b="1" dirty="0" err="1">
                <a:effectLst/>
                <a:latin typeface="TimesNewRomanPSMT"/>
              </a:rPr>
              <a:t>tüzelkişileri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b="1" dirty="0" err="1">
                <a:effectLst/>
                <a:latin typeface="TimesNewRomanPSMT"/>
              </a:rPr>
              <a:t>bağlar</a:t>
            </a:r>
            <a:r>
              <a:rPr lang="en-US" sz="1800" b="1" dirty="0">
                <a:effectLst/>
                <a:latin typeface="TimesNewRomanPSMT"/>
              </a:rPr>
              <a:t>.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69409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m. 147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4" y="2522481"/>
            <a:ext cx="6906873" cy="3121573"/>
          </a:xfrm>
        </p:spPr>
        <p:txBody>
          <a:bodyPr/>
          <a:lstStyle/>
          <a:p>
            <a:pPr algn="just"/>
            <a:r>
              <a:rPr lang="en-US" sz="1800" dirty="0">
                <a:effectLst/>
                <a:latin typeface="TimesNewRomanPSMT"/>
              </a:rPr>
              <a:t>	</a:t>
            </a:r>
            <a:r>
              <a:rPr lang="en-US" sz="1800" dirty="0" err="1">
                <a:effectLst/>
                <a:latin typeface="TimesNewRomanPSMT"/>
              </a:rPr>
              <a:t>Anayasa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Mahkemesi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üyeleri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oniki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yıl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için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seçilirler</a:t>
            </a:r>
            <a:r>
              <a:rPr lang="en-US" sz="1800" dirty="0">
                <a:effectLst/>
                <a:latin typeface="TimesNewRomanPSMT"/>
              </a:rPr>
              <a:t>. Bir </a:t>
            </a:r>
            <a:r>
              <a:rPr lang="en-US" sz="1800" dirty="0" err="1">
                <a:effectLst/>
                <a:latin typeface="TimesNewRomanPSMT"/>
              </a:rPr>
              <a:t>kimse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iki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defa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Anayasa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Mahkemesi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üyesi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seçilemez</a:t>
            </a:r>
            <a:r>
              <a:rPr lang="en-US" sz="1800" dirty="0">
                <a:effectLst/>
                <a:latin typeface="TimesNewRomanPSMT"/>
              </a:rPr>
              <a:t>. </a:t>
            </a:r>
            <a:r>
              <a:rPr lang="en-US" sz="1800" dirty="0" err="1">
                <a:effectLst/>
                <a:latin typeface="TimesNewRomanPSMT"/>
              </a:rPr>
              <a:t>Anayasa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Mahkemesi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üyeleri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altmışbes</a:t>
            </a:r>
            <a:r>
              <a:rPr lang="en-US" sz="1800" dirty="0">
                <a:effectLst/>
                <a:latin typeface="TimesNewRomanPSMT"/>
              </a:rPr>
              <a:t>̧ </a:t>
            </a:r>
            <a:r>
              <a:rPr lang="en-US" sz="1800" dirty="0" err="1">
                <a:effectLst/>
                <a:latin typeface="TimesNewRomanPSMT"/>
              </a:rPr>
              <a:t>yaşını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doldurunca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emekliye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ayrılırlar</a:t>
            </a:r>
            <a:r>
              <a:rPr lang="en-US" sz="1800" dirty="0">
                <a:effectLst/>
                <a:latin typeface="TimesNewRomanPSMT"/>
              </a:rPr>
              <a:t>. </a:t>
            </a:r>
            <a:r>
              <a:rPr lang="en-US" sz="1800" dirty="0" err="1">
                <a:effectLst/>
                <a:latin typeface="TimesNewRomanPSMT"/>
              </a:rPr>
              <a:t>Zorunlu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emeklilik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yaşından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önce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görev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süresi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dolan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üyelerin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başka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bir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görevde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çalışmaları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özlük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işleri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kanunla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düzenlenir</a:t>
            </a:r>
            <a:r>
              <a:rPr lang="en-US" sz="1800" dirty="0">
                <a:effectLst/>
                <a:latin typeface="TimesNewRomanPSMT"/>
              </a:rPr>
              <a:t>. </a:t>
            </a:r>
            <a:endParaRPr lang="en-US" sz="2000" dirty="0"/>
          </a:p>
          <a:p>
            <a:pPr algn="just"/>
            <a:r>
              <a:rPr lang="en-US" sz="1800" dirty="0">
                <a:effectLst/>
                <a:latin typeface="TimesNewRomanPSMT"/>
              </a:rPr>
              <a:t>	</a:t>
            </a:r>
            <a:r>
              <a:rPr lang="en-US" sz="1800" dirty="0" err="1">
                <a:effectLst/>
                <a:latin typeface="TimesNewRomanPSMT"/>
              </a:rPr>
              <a:t>Anayasa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Mahkemesi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üyeliği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bir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üyenin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hakimlik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mesleğinden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çıkarılmayı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gerektiren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bir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suçtan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dolayı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hüküm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giymesi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halinde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kendiliğinden</a:t>
            </a:r>
            <a:r>
              <a:rPr lang="en-US" sz="1800" dirty="0">
                <a:effectLst/>
                <a:latin typeface="TimesNewRomanPSMT"/>
              </a:rPr>
              <a:t>; </a:t>
            </a:r>
            <a:r>
              <a:rPr lang="en-US" sz="1800" dirty="0" err="1">
                <a:effectLst/>
                <a:latin typeface="TimesNewRomanPSMT"/>
              </a:rPr>
              <a:t>görevini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sağlık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bakımından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yerine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getiremeyeceğinin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kesin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olarak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anlaşılması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halinde</a:t>
            </a:r>
            <a:r>
              <a:rPr lang="en-US" sz="1800" dirty="0">
                <a:effectLst/>
                <a:latin typeface="TimesNewRomanPSMT"/>
              </a:rPr>
              <a:t> de, </a:t>
            </a:r>
            <a:r>
              <a:rPr lang="en-US" sz="1800" b="1" dirty="0" err="1">
                <a:effectLst/>
                <a:latin typeface="TimesNewRomanPSMT"/>
              </a:rPr>
              <a:t>Anayasa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b="1" dirty="0" err="1">
                <a:effectLst/>
                <a:latin typeface="TimesNewRomanPSMT"/>
              </a:rPr>
              <a:t>Mahkemesi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b="1" dirty="0" err="1">
                <a:effectLst/>
                <a:latin typeface="TimesNewRomanPSMT"/>
              </a:rPr>
              <a:t>üye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b="1" dirty="0" err="1">
                <a:effectLst/>
                <a:latin typeface="TimesNewRomanPSMT"/>
              </a:rPr>
              <a:t>tamsayısının</a:t>
            </a:r>
            <a:r>
              <a:rPr lang="en-US" sz="1800" b="1" dirty="0">
                <a:effectLst/>
                <a:latin typeface="TimesNewRomanPSMT"/>
              </a:rPr>
              <a:t> salt </a:t>
            </a:r>
            <a:r>
              <a:rPr lang="en-US" sz="1800" b="1" dirty="0" err="1">
                <a:effectLst/>
                <a:latin typeface="TimesNewRomanPSMT"/>
              </a:rPr>
              <a:t>çoğunluğunun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b="1" dirty="0" err="1">
                <a:effectLst/>
                <a:latin typeface="TimesNewRomanPSMT"/>
              </a:rPr>
              <a:t>kararı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b="1" dirty="0" err="1">
                <a:effectLst/>
                <a:latin typeface="TimesNewRomanPSMT"/>
              </a:rPr>
              <a:t>ile</a:t>
            </a:r>
            <a:r>
              <a:rPr lang="en-US" sz="1800" b="1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sona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erer</a:t>
            </a:r>
            <a:r>
              <a:rPr lang="en-US" sz="1800" dirty="0">
                <a:effectLst/>
                <a:latin typeface="TimesNewRomanPSMT"/>
              </a:rPr>
              <a:t>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553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2635" y="1844879"/>
            <a:ext cx="6400800" cy="2506404"/>
          </a:xfrm>
        </p:spPr>
        <p:txBody>
          <a:bodyPr anchor="ctr"/>
          <a:lstStyle/>
          <a:p>
            <a:pPr algn="ctr">
              <a:lnSpc>
                <a:spcPct val="200000"/>
              </a:lnSpc>
            </a:pP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Anayasa</a:t>
            </a:r>
            <a:r>
              <a:rPr lang="en-US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Mahkemesinin</a:t>
            </a:r>
            <a:r>
              <a:rPr lang="en-US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Kuruluşu</a:t>
            </a:r>
            <a:endParaRPr lang="en-US" sz="3600" b="1" dirty="0"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73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8" y="638733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(2010 değ. Öncesi)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1" y="1564938"/>
            <a:ext cx="6982967" cy="4362526"/>
          </a:xfrm>
        </p:spPr>
        <p:txBody>
          <a:bodyPr/>
          <a:lstStyle/>
          <a:p>
            <a:pPr algn="just"/>
            <a:r>
              <a:rPr lang="en-US" sz="1800" b="1" dirty="0">
                <a:effectLst/>
                <a:latin typeface="Times New Roman,Bold" pitchFamily="2" charset="0"/>
              </a:rPr>
              <a:t>Madde 146 </a:t>
            </a:r>
            <a:endParaRPr lang="en-US" sz="1800" dirty="0">
              <a:effectLst/>
              <a:latin typeface="Times New Roman,Bold" pitchFamily="2" charset="0"/>
            </a:endParaRPr>
          </a:p>
          <a:p>
            <a:pPr algn="just"/>
            <a:r>
              <a:rPr lang="en-US" sz="1800" dirty="0" err="1">
                <a:effectLst/>
                <a:latin typeface="Times New Roman" panose="02020603050405020304" pitchFamily="18" charset="0"/>
              </a:rPr>
              <a:t>Anayasa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Mahkemesi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onbir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asıl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ve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dört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yedek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üyeden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kurulur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.</a:t>
            </a:r>
            <a:br>
              <a:rPr lang="en-US" sz="1800" dirty="0">
                <a:effectLst/>
                <a:latin typeface="Times New Roman" panose="02020603050405020304" pitchFamily="18" charset="0"/>
              </a:rPr>
            </a:br>
            <a:r>
              <a:rPr lang="en-US" sz="1800" b="1" dirty="0" err="1">
                <a:effectLst/>
                <a:latin typeface="Times New Roman" panose="02020603050405020304" pitchFamily="18" charset="0"/>
              </a:rPr>
              <a:t>Cumhurbaşkanı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,</a:t>
            </a:r>
          </a:p>
          <a:p>
            <a:pPr algn="just"/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iki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asıl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ve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iki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yedek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üyeyi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Yargıtay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,</a:t>
            </a:r>
          </a:p>
          <a:p>
            <a:pPr algn="just"/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iki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asıl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ve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bir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yedek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üyeyi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Danıştay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, </a:t>
            </a:r>
          </a:p>
          <a:p>
            <a:pPr algn="just"/>
            <a:r>
              <a:rPr lang="en-US" sz="1800" u="sng" dirty="0" err="1">
                <a:effectLst/>
                <a:latin typeface="Times New Roman" panose="02020603050405020304" pitchFamily="18" charset="0"/>
              </a:rPr>
              <a:t>birer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asıl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üyeyi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Askeri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̂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Yargıtay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Askeri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̂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Yüksek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İdare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Mahkemesi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ve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Sayıştay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genel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kurullarınca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kendi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Başkan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ve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üyeleri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arasından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üye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tamsayılarının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salt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çoğunluğu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ile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her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bos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̧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yer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için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gösterecekleri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üçer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aday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içinden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; </a:t>
            </a:r>
          </a:p>
          <a:p>
            <a:pPr algn="just"/>
            <a:r>
              <a:rPr lang="en-US" sz="1800" u="sng" dirty="0" err="1">
                <a:effectLst/>
                <a:latin typeface="Times New Roman" panose="02020603050405020304" pitchFamily="18" charset="0"/>
              </a:rPr>
              <a:t>bir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asıl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üyeyi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ise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Yükseköğretim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Kurulunun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kendi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üyesi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olmayan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Yükseköğretim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kurumları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öğretim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üyeleri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içinden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göstereceği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üc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̧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aday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arasından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; </a:t>
            </a:r>
          </a:p>
          <a:p>
            <a:pPr algn="just"/>
            <a:r>
              <a:rPr lang="en-US" sz="1800" u="sng" dirty="0" err="1">
                <a:effectLst/>
                <a:latin typeface="Times New Roman" panose="02020603050405020304" pitchFamily="18" charset="0"/>
              </a:rPr>
              <a:t>üc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̧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asıl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ve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bir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yedek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effectLst/>
                <a:latin typeface="Times New Roman" panose="02020603050405020304" pitchFamily="18" charset="0"/>
              </a:rPr>
              <a:t>üyeyi</a:t>
            </a:r>
            <a:r>
              <a:rPr lang="en-US" sz="18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üst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kademe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yöneticileri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ile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avukatlar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arasından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seçer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16533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(2010 değ. Öncesi)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5" y="2522482"/>
            <a:ext cx="6772866" cy="3878318"/>
          </a:xfrm>
        </p:spPr>
        <p:txBody>
          <a:bodyPr/>
          <a:lstStyle/>
          <a:p>
            <a:pPr algn="just"/>
            <a:br>
              <a:rPr lang="tr-TR" sz="1200" dirty="0"/>
            </a:br>
            <a:r>
              <a:rPr lang="en-US" sz="1800" dirty="0" err="1">
                <a:effectLst/>
                <a:latin typeface="Times New Roman" panose="02020603050405020304" pitchFamily="18" charset="0"/>
              </a:rPr>
              <a:t>Yükseköğretim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kurumları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öğretim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üyeleri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ile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üst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kademe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yöneticileri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ve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avukatların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Anayasa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Mahkemesine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asıl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ve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yedek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üye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seçilebilmeleri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için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kırk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yaşını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doldurmus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̧,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yükseköğrenim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görmüs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̧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veya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öğrenim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kurumlarında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en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az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onbes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̧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yıl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öğretim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üyeliği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veya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kamu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hizmetinde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en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az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onbes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̧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yıl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fiilen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çalışmıs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̧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veya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en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az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onbes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̧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yıl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avukatlık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yapmıs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̧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olmak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şarttır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. </a:t>
            </a:r>
            <a:endParaRPr lang="en-US" sz="1400" dirty="0"/>
          </a:p>
          <a:p>
            <a:pPr algn="just"/>
            <a:r>
              <a:rPr lang="en-US" sz="1800" dirty="0" err="1">
                <a:effectLst/>
                <a:latin typeface="Times New Roman" panose="02020603050405020304" pitchFamily="18" charset="0"/>
              </a:rPr>
              <a:t>Anayasa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Mahkemesi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asıl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üyeleri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arasından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gizli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oyla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ve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üye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tamsayısının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salt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çoğunluğu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ile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dört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yıl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için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bir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Başkan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ve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bir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Başkanvekili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seçer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.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Süresi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bitenler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yeniden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seçilebilirler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. </a:t>
            </a:r>
            <a:endParaRPr lang="en-US" sz="1400" dirty="0"/>
          </a:p>
          <a:p>
            <a:pPr algn="just"/>
            <a:r>
              <a:rPr lang="en-US" sz="1800" dirty="0" err="1">
                <a:effectLst/>
                <a:latin typeface="Times New Roman" panose="02020603050405020304" pitchFamily="18" charset="0"/>
              </a:rPr>
              <a:t>Anayasa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Mahkemesi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üyeleri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asli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̂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görevleri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dışında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resmi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̂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veya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özel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hiçbir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görev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</a:rPr>
              <a:t>alamazlar</a:t>
            </a:r>
            <a:r>
              <a:rPr lang="en-US" sz="1800" dirty="0">
                <a:effectLst/>
                <a:latin typeface="Times New Roman" panose="02020603050405020304" pitchFamily="18" charset="0"/>
              </a:rPr>
              <a:t>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58908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(2010 değişiklikleri ile)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4" y="2522481"/>
            <a:ext cx="6906873" cy="3121573"/>
          </a:xfrm>
        </p:spPr>
        <p:txBody>
          <a:bodyPr/>
          <a:lstStyle/>
          <a:p>
            <a:pPr algn="just"/>
            <a:r>
              <a:rPr lang="en-US" sz="1800" b="1" dirty="0">
                <a:latin typeface="Times New Roman" panose="02020603050405020304" pitchFamily="18" charset="0"/>
              </a:rPr>
              <a:t>MADDE 146- </a:t>
            </a:r>
            <a:r>
              <a:rPr lang="en-US" sz="1800" dirty="0" err="1">
                <a:latin typeface="Times New Roman" panose="02020603050405020304" pitchFamily="18" charset="0"/>
              </a:rPr>
              <a:t>Anayasa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Mahkemesi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onyedi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üyeden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kurulur</a:t>
            </a:r>
            <a:r>
              <a:rPr lang="en-US" sz="1800" dirty="0">
                <a:latin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</a:rPr>
              <a:t>Türkiye Büyük Millet </a:t>
            </a:r>
            <a:r>
              <a:rPr lang="en-US" sz="1800" b="1" dirty="0" err="1">
                <a:latin typeface="Times New Roman" panose="02020603050405020304" pitchFamily="18" charset="0"/>
              </a:rPr>
              <a:t>Meclisi</a:t>
            </a:r>
            <a:r>
              <a:rPr lang="en-US" sz="1800" dirty="0">
                <a:latin typeface="Times New Roman" panose="02020603050405020304" pitchFamily="18" charset="0"/>
              </a:rPr>
              <a:t>; </a:t>
            </a:r>
          </a:p>
          <a:p>
            <a:pPr algn="just"/>
            <a:r>
              <a:rPr lang="en-US" sz="1800" u="sng" dirty="0" err="1">
                <a:latin typeface="Times New Roman" panose="02020603050405020304" pitchFamily="18" charset="0"/>
              </a:rPr>
              <a:t>iki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latin typeface="Times New Roman" panose="02020603050405020304" pitchFamily="18" charset="0"/>
              </a:rPr>
              <a:t>üyeyi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Sayıştay</a:t>
            </a:r>
            <a:r>
              <a:rPr lang="en-US" sz="1800" dirty="0">
                <a:latin typeface="Times New Roman" panose="02020603050405020304" pitchFamily="18" charset="0"/>
              </a:rPr>
              <a:t> Genel </a:t>
            </a:r>
            <a:r>
              <a:rPr lang="en-US" sz="1800" dirty="0" err="1">
                <a:latin typeface="Times New Roman" panose="02020603050405020304" pitchFamily="18" charset="0"/>
              </a:rPr>
              <a:t>Kurulunun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kendi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başkan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ve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üyeleri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arasından</a:t>
            </a:r>
            <a:r>
              <a:rPr lang="en-US" sz="1800" dirty="0">
                <a:latin typeface="Times New Roman" panose="02020603050405020304" pitchFamily="18" charset="0"/>
              </a:rPr>
              <a:t>, her </a:t>
            </a:r>
            <a:r>
              <a:rPr lang="en-US" sz="1800" dirty="0" err="1">
                <a:latin typeface="Times New Roman" panose="02020603050405020304" pitchFamily="18" charset="0"/>
              </a:rPr>
              <a:t>boş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yer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için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gösterecekleri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üçer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aday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içinden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</a:p>
          <a:p>
            <a:pPr algn="just"/>
            <a:r>
              <a:rPr lang="en-US" sz="1800" u="sng" dirty="0" err="1">
                <a:latin typeface="Times New Roman" panose="02020603050405020304" pitchFamily="18" charset="0"/>
              </a:rPr>
              <a:t>bir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latin typeface="Times New Roman" panose="02020603050405020304" pitchFamily="18" charset="0"/>
              </a:rPr>
              <a:t>üyeyi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ise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baro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başkanlarının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serbest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avukatlar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arasından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gösterecekleri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üç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aday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içinden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yapacağı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gizli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oylamayla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seçer</a:t>
            </a:r>
            <a:r>
              <a:rPr lang="en-US" sz="1800" dirty="0">
                <a:latin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</a:rPr>
              <a:t>Türkiye Büyük Millet </a:t>
            </a:r>
            <a:r>
              <a:rPr lang="en-US" sz="1800" dirty="0" err="1">
                <a:latin typeface="Times New Roman" panose="02020603050405020304" pitchFamily="18" charset="0"/>
              </a:rPr>
              <a:t>Meclisinde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yapılacak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bu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seçimde</a:t>
            </a:r>
            <a:r>
              <a:rPr lang="en-US" sz="1800" dirty="0">
                <a:latin typeface="Times New Roman" panose="02020603050405020304" pitchFamily="18" charset="0"/>
              </a:rPr>
              <a:t>, her </a:t>
            </a:r>
            <a:r>
              <a:rPr lang="en-US" sz="1800" dirty="0" err="1">
                <a:latin typeface="Times New Roman" panose="02020603050405020304" pitchFamily="18" charset="0"/>
              </a:rPr>
              <a:t>boş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üyelik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için</a:t>
            </a:r>
            <a:r>
              <a:rPr lang="en-US" sz="1800" dirty="0">
                <a:latin typeface="Times New Roman" panose="02020603050405020304" pitchFamily="18" charset="0"/>
              </a:rPr>
              <a:t> ilk </a:t>
            </a:r>
            <a:r>
              <a:rPr lang="en-US" sz="1800" dirty="0" err="1">
                <a:latin typeface="Times New Roman" panose="02020603050405020304" pitchFamily="18" charset="0"/>
              </a:rPr>
              <a:t>oylamada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</a:t>
            </a:r>
            <a:r>
              <a:rPr lang="en-US" sz="1800" dirty="0">
                <a:latin typeface="Times New Roman" panose="02020603050405020304" pitchFamily="18" charset="0"/>
              </a:rPr>
              <a:t> tam </a:t>
            </a:r>
            <a:r>
              <a:rPr lang="en-US" sz="1800" dirty="0" err="1">
                <a:latin typeface="Times New Roman" panose="02020603050405020304" pitchFamily="18" charset="0"/>
              </a:rPr>
              <a:t>sayısının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üçte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iki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ve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ikinci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oylamada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</a:t>
            </a:r>
            <a:r>
              <a:rPr lang="en-US" sz="1800" dirty="0">
                <a:latin typeface="Times New Roman" panose="02020603050405020304" pitchFamily="18" charset="0"/>
              </a:rPr>
              <a:t> tam </a:t>
            </a:r>
            <a:r>
              <a:rPr lang="en-US" sz="1800" dirty="0" err="1">
                <a:latin typeface="Times New Roman" panose="02020603050405020304" pitchFamily="18" charset="0"/>
              </a:rPr>
              <a:t>sayısının</a:t>
            </a:r>
            <a:r>
              <a:rPr lang="en-US" sz="1800" dirty="0">
                <a:latin typeface="Times New Roman" panose="02020603050405020304" pitchFamily="18" charset="0"/>
              </a:rPr>
              <a:t> salt </a:t>
            </a:r>
            <a:r>
              <a:rPr lang="en-US" sz="1800" dirty="0" err="1">
                <a:latin typeface="Times New Roman" panose="02020603050405020304" pitchFamily="18" charset="0"/>
              </a:rPr>
              <a:t>çoğunluğu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aranır</a:t>
            </a:r>
            <a:r>
              <a:rPr lang="en-US" sz="1800" dirty="0">
                <a:latin typeface="Times New Roman" panose="02020603050405020304" pitchFamily="18" charset="0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</a:rPr>
              <a:t>İkinci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oylamada</a:t>
            </a:r>
            <a:r>
              <a:rPr lang="en-US" sz="1800" dirty="0">
                <a:latin typeface="Times New Roman" panose="02020603050405020304" pitchFamily="18" charset="0"/>
              </a:rPr>
              <a:t> salt </a:t>
            </a:r>
            <a:r>
              <a:rPr lang="en-US" sz="1800" dirty="0" err="1">
                <a:latin typeface="Times New Roman" panose="02020603050405020304" pitchFamily="18" charset="0"/>
              </a:rPr>
              <a:t>çoğunluk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sağlanamazsa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</a:rPr>
              <a:t>bu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oylamada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en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çok</a:t>
            </a:r>
            <a:r>
              <a:rPr lang="en-US" sz="1800" dirty="0">
                <a:latin typeface="Times New Roman" panose="02020603050405020304" pitchFamily="18" charset="0"/>
              </a:rPr>
              <a:t> oy </a:t>
            </a:r>
            <a:r>
              <a:rPr lang="en-US" sz="1800" dirty="0" err="1">
                <a:latin typeface="Times New Roman" panose="02020603050405020304" pitchFamily="18" charset="0"/>
              </a:rPr>
              <a:t>alan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iki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aday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için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üçüncü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oylama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yapılır</a:t>
            </a:r>
            <a:r>
              <a:rPr lang="en-US" sz="1800" dirty="0">
                <a:latin typeface="Times New Roman" panose="02020603050405020304" pitchFamily="18" charset="0"/>
              </a:rPr>
              <a:t>; </a:t>
            </a:r>
            <a:r>
              <a:rPr lang="en-US" sz="1800" dirty="0" err="1">
                <a:latin typeface="Times New Roman" panose="02020603050405020304" pitchFamily="18" charset="0"/>
              </a:rPr>
              <a:t>üçüncü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oylamada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en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fazla</a:t>
            </a:r>
            <a:r>
              <a:rPr lang="en-US" sz="1800" dirty="0">
                <a:latin typeface="Times New Roman" panose="02020603050405020304" pitchFamily="18" charset="0"/>
              </a:rPr>
              <a:t> oy </a:t>
            </a:r>
            <a:r>
              <a:rPr lang="en-US" sz="1800" dirty="0" err="1">
                <a:latin typeface="Times New Roman" panose="02020603050405020304" pitchFamily="18" charset="0"/>
              </a:rPr>
              <a:t>alan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aday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seçilmiş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olur</a:t>
            </a:r>
            <a:r>
              <a:rPr lang="en-US" sz="1800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9817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8" y="731520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(2010 değişiklikleri ile)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1491" y="1598697"/>
            <a:ext cx="6906873" cy="5092559"/>
          </a:xfrm>
        </p:spPr>
        <p:txBody>
          <a:bodyPr/>
          <a:lstStyle/>
          <a:p>
            <a:pPr algn="just"/>
            <a:r>
              <a:rPr lang="en-US" sz="1800" b="1" dirty="0" err="1">
                <a:latin typeface="Times New Roman" panose="02020603050405020304" pitchFamily="18" charset="0"/>
              </a:rPr>
              <a:t>Cumhurbaşkanı</a:t>
            </a:r>
            <a:r>
              <a:rPr lang="en-US" sz="1800" dirty="0">
                <a:latin typeface="Times New Roman" panose="02020603050405020304" pitchFamily="18" charset="0"/>
              </a:rPr>
              <a:t>; </a:t>
            </a:r>
          </a:p>
          <a:p>
            <a:pPr algn="just"/>
            <a:r>
              <a:rPr lang="en-US" sz="1800" u="sng" dirty="0" err="1">
                <a:latin typeface="Times New Roman" panose="02020603050405020304" pitchFamily="18" charset="0"/>
              </a:rPr>
              <a:t>üç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latin typeface="Times New Roman" panose="02020603050405020304" pitchFamily="18" charset="0"/>
              </a:rPr>
              <a:t>üyeyi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latin typeface="Times New Roman" panose="02020603050405020304" pitchFamily="18" charset="0"/>
              </a:rPr>
              <a:t>Yargıtay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</a:p>
          <a:p>
            <a:pPr algn="just"/>
            <a:r>
              <a:rPr lang="en-US" sz="1800" u="sng" dirty="0" err="1">
                <a:latin typeface="Times New Roman" panose="02020603050405020304" pitchFamily="18" charset="0"/>
              </a:rPr>
              <a:t>iki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latin typeface="Times New Roman" panose="02020603050405020304" pitchFamily="18" charset="0"/>
              </a:rPr>
              <a:t>üyeyi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latin typeface="Times New Roman" panose="02020603050405020304" pitchFamily="18" charset="0"/>
              </a:rPr>
              <a:t>Danıştay</a:t>
            </a:r>
            <a:r>
              <a:rPr lang="en-US" sz="1800" u="sng" dirty="0">
                <a:latin typeface="Times New Roman" panose="02020603050405020304" pitchFamily="18" charset="0"/>
              </a:rPr>
              <a:t>, </a:t>
            </a:r>
          </a:p>
          <a:p>
            <a:pPr algn="just"/>
            <a:r>
              <a:rPr lang="en-US" sz="1800" u="sng" dirty="0" err="1">
                <a:latin typeface="Times New Roman" panose="02020603050405020304" pitchFamily="18" charset="0"/>
              </a:rPr>
              <a:t>bir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latin typeface="Times New Roman" panose="02020603050405020304" pitchFamily="18" charset="0"/>
              </a:rPr>
              <a:t>üyeyi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latin typeface="Times New Roman" panose="02020603050405020304" pitchFamily="18" charset="0"/>
              </a:rPr>
              <a:t>Askerî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latin typeface="Times New Roman" panose="02020603050405020304" pitchFamily="18" charset="0"/>
              </a:rPr>
              <a:t>Yargıtay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</a:p>
          <a:p>
            <a:pPr algn="just"/>
            <a:r>
              <a:rPr lang="en-US" sz="1800" u="sng" dirty="0" err="1">
                <a:latin typeface="Times New Roman" panose="02020603050405020304" pitchFamily="18" charset="0"/>
              </a:rPr>
              <a:t>bir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latin typeface="Times New Roman" panose="02020603050405020304" pitchFamily="18" charset="0"/>
              </a:rPr>
              <a:t>üyeyi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Askerî</a:t>
            </a:r>
            <a:r>
              <a:rPr lang="en-US" sz="1800" dirty="0">
                <a:latin typeface="Times New Roman" panose="02020603050405020304" pitchFamily="18" charset="0"/>
              </a:rPr>
              <a:t> Yüksek </a:t>
            </a:r>
            <a:r>
              <a:rPr lang="en-US" sz="1800" dirty="0" err="1">
                <a:latin typeface="Times New Roman" panose="02020603050405020304" pitchFamily="18" charset="0"/>
              </a:rPr>
              <a:t>İdare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Mahkemesi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genel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kurullarınca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kendi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başkan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ve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üyeleri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arasından</a:t>
            </a:r>
            <a:r>
              <a:rPr lang="en-US" sz="1800" dirty="0">
                <a:latin typeface="Times New Roman" panose="02020603050405020304" pitchFamily="18" charset="0"/>
              </a:rPr>
              <a:t> her </a:t>
            </a:r>
            <a:r>
              <a:rPr lang="en-US" sz="1800" dirty="0" err="1">
                <a:latin typeface="Times New Roman" panose="02020603050405020304" pitchFamily="18" charset="0"/>
              </a:rPr>
              <a:t>boş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yer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için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gösterecekleri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üçer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aday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içinden</a:t>
            </a:r>
            <a:r>
              <a:rPr lang="en-US" sz="1800" dirty="0">
                <a:latin typeface="Times New Roman" panose="02020603050405020304" pitchFamily="18" charset="0"/>
              </a:rPr>
              <a:t>; </a:t>
            </a:r>
          </a:p>
          <a:p>
            <a:pPr algn="just"/>
            <a:r>
              <a:rPr lang="en-US" sz="1800" dirty="0" err="1">
                <a:latin typeface="Times New Roman" panose="02020603050405020304" pitchFamily="18" charset="0"/>
              </a:rPr>
              <a:t>en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az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ikisi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hukukçu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olmak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üzere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latin typeface="Times New Roman" panose="02020603050405020304" pitchFamily="18" charset="0"/>
              </a:rPr>
              <a:t>üç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latin typeface="Times New Roman" panose="02020603050405020304" pitchFamily="18" charset="0"/>
              </a:rPr>
              <a:t>üyeyi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Yükseköğretim</a:t>
            </a:r>
            <a:r>
              <a:rPr lang="en-US" sz="1800" dirty="0">
                <a:latin typeface="Times New Roman" panose="02020603050405020304" pitchFamily="18" charset="0"/>
              </a:rPr>
              <a:t>  </a:t>
            </a:r>
            <a:r>
              <a:rPr lang="en-US" sz="1800" dirty="0" err="1">
                <a:latin typeface="Times New Roman" panose="02020603050405020304" pitchFamily="18" charset="0"/>
              </a:rPr>
              <a:t>Kurulunun</a:t>
            </a:r>
            <a:r>
              <a:rPr lang="en-US" sz="1800" dirty="0">
                <a:latin typeface="Times New Roman" panose="02020603050405020304" pitchFamily="18" charset="0"/>
              </a:rPr>
              <a:t>  </a:t>
            </a:r>
            <a:r>
              <a:rPr lang="en-US" sz="1800" dirty="0" err="1">
                <a:latin typeface="Times New Roman" panose="02020603050405020304" pitchFamily="18" charset="0"/>
              </a:rPr>
              <a:t>kendi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üyesi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olmayan</a:t>
            </a:r>
            <a:r>
              <a:rPr lang="en-US" sz="1800" dirty="0">
                <a:latin typeface="Times New Roman" panose="02020603050405020304" pitchFamily="18" charset="0"/>
              </a:rPr>
              <a:t> </a:t>
            </a:r>
            <a:r>
              <a:rPr lang="en-US" sz="1800" dirty="0" err="1">
                <a:latin typeface="Times New Roman" panose="02020603050405020304" pitchFamily="18" charset="0"/>
              </a:rPr>
              <a:t>yükseköğretim</a:t>
            </a:r>
            <a:r>
              <a:rPr lang="en-US" sz="1800" dirty="0">
                <a:latin typeface="Times New Roman" panose="02020603050405020304" pitchFamily="18" charset="0"/>
              </a:rPr>
              <a:t>  </a:t>
            </a:r>
            <a:r>
              <a:rPr lang="en-US" sz="1800" dirty="0" err="1">
                <a:latin typeface="Times New Roman" panose="02020603050405020304" pitchFamily="18" charset="0"/>
              </a:rPr>
              <a:t>kurumlarının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hukuk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</a:rPr>
              <a:t>iktisat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ve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siyasal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bilimler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dallarında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görev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yapan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öğretim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üyeleri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arasından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göstereceği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üçer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aday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içinden</a:t>
            </a:r>
            <a:r>
              <a:rPr lang="en-US" sz="1800" dirty="0">
                <a:latin typeface="Times New Roman" panose="02020603050405020304" pitchFamily="18" charset="0"/>
              </a:rPr>
              <a:t>; </a:t>
            </a:r>
          </a:p>
          <a:p>
            <a:pPr algn="just"/>
            <a:r>
              <a:rPr lang="en-US" sz="1800" u="sng" dirty="0" err="1">
                <a:latin typeface="Times New Roman" panose="02020603050405020304" pitchFamily="18" charset="0"/>
              </a:rPr>
              <a:t>dört</a:t>
            </a:r>
            <a:r>
              <a:rPr lang="en-US" sz="1800" u="sng" dirty="0">
                <a:latin typeface="Times New Roman" panose="02020603050405020304" pitchFamily="18" charset="0"/>
              </a:rPr>
              <a:t> </a:t>
            </a:r>
            <a:r>
              <a:rPr lang="en-US" sz="1800" u="sng" dirty="0" err="1">
                <a:latin typeface="Times New Roman" panose="02020603050405020304" pitchFamily="18" charset="0"/>
              </a:rPr>
              <a:t>üyeyi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üst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kademe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yöneticileri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</a:rPr>
              <a:t>serbest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avukatlar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</a:rPr>
              <a:t>birinci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sınıf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hâkim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ve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savcılar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ile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en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az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beş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yıl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raportörlük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yapmış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Anayasa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Mahkemesi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raportörleri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arasından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seçer</a:t>
            </a:r>
            <a:r>
              <a:rPr lang="en-US" sz="1800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1395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(2010 değişiklikleri ile)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4" y="2522481"/>
            <a:ext cx="6906873" cy="3121573"/>
          </a:xfrm>
        </p:spPr>
        <p:txBody>
          <a:bodyPr/>
          <a:lstStyle/>
          <a:p>
            <a:pPr indent="215900" algn="just">
              <a:spcBef>
                <a:spcPts val="300"/>
              </a:spcBef>
              <a:spcAft>
                <a:spcPts val="300"/>
              </a:spcAft>
            </a:pPr>
            <a:r>
              <a:rPr lang="en-US" sz="1800" dirty="0" err="1">
                <a:latin typeface="Times New Roman" panose="02020603050405020304" pitchFamily="18" charset="0"/>
              </a:rPr>
              <a:t>Yargıtay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</a:rPr>
              <a:t>Danıştay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</a:rPr>
              <a:t>Askerî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Yargıtay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</a:rPr>
              <a:t>Askerî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Yüksek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İdare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Mahkemesi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ve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Sayıştay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genel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kurulları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ile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Yükseköğretim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Kurulundan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Anayasa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Mahkemesi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üyeliğine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aday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göstermek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için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yapılacak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seçimlerde</a:t>
            </a:r>
            <a:r>
              <a:rPr lang="en-US" sz="1800" dirty="0">
                <a:latin typeface="Times New Roman" panose="02020603050405020304" pitchFamily="18" charset="0"/>
              </a:rPr>
              <a:t>, her </a:t>
            </a:r>
            <a:r>
              <a:rPr lang="en-US" sz="1800" dirty="0" err="1">
                <a:latin typeface="Times New Roman" panose="02020603050405020304" pitchFamily="18" charset="0"/>
              </a:rPr>
              <a:t>boş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üyelik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için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</a:rPr>
              <a:t>bir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ancak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bir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aday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için</a:t>
            </a:r>
            <a:r>
              <a:rPr lang="en-US" sz="1800" dirty="0">
                <a:latin typeface="Times New Roman" panose="02020603050405020304" pitchFamily="18" charset="0"/>
              </a:rPr>
              <a:t> oy </a:t>
            </a:r>
            <a:r>
              <a:rPr lang="en-US" sz="1800" dirty="0" err="1">
                <a:latin typeface="Times New Roman" panose="02020603050405020304" pitchFamily="18" charset="0"/>
              </a:rPr>
              <a:t>kullanabilir</a:t>
            </a:r>
            <a:r>
              <a:rPr lang="en-US" sz="1800" dirty="0">
                <a:latin typeface="Times New Roman" panose="02020603050405020304" pitchFamily="18" charset="0"/>
              </a:rPr>
              <a:t>; </a:t>
            </a:r>
            <a:r>
              <a:rPr lang="en-US" sz="1800" dirty="0" err="1">
                <a:latin typeface="Times New Roman" panose="02020603050405020304" pitchFamily="18" charset="0"/>
              </a:rPr>
              <a:t>en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fazla</a:t>
            </a:r>
            <a:r>
              <a:rPr lang="en-US" sz="1800" dirty="0">
                <a:latin typeface="Times New Roman" panose="02020603050405020304" pitchFamily="18" charset="0"/>
              </a:rPr>
              <a:t> oy </a:t>
            </a:r>
            <a:r>
              <a:rPr lang="en-US" sz="1800" dirty="0" err="1">
                <a:latin typeface="Times New Roman" panose="02020603050405020304" pitchFamily="18" charset="0"/>
              </a:rPr>
              <a:t>alan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üç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kişi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aday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gösterilmiş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sayılır</a:t>
            </a:r>
            <a:r>
              <a:rPr lang="en-US" sz="1800" dirty="0">
                <a:latin typeface="Times New Roman" panose="02020603050405020304" pitchFamily="18" charset="0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</a:rPr>
              <a:t>Baro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başkanlarının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serbest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avukatlar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arasından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gösterecekleri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üç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aday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için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yapılacak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seçimde</a:t>
            </a:r>
            <a:r>
              <a:rPr lang="en-US" sz="1800" dirty="0">
                <a:latin typeface="Times New Roman" panose="02020603050405020304" pitchFamily="18" charset="0"/>
              </a:rPr>
              <a:t> de her </a:t>
            </a:r>
            <a:r>
              <a:rPr lang="en-US" sz="1800" dirty="0" err="1">
                <a:latin typeface="Times New Roman" panose="02020603050405020304" pitchFamily="18" charset="0"/>
              </a:rPr>
              <a:t>bir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baro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başkanı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ancak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bir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aday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için</a:t>
            </a:r>
            <a:r>
              <a:rPr lang="en-US" sz="1800" dirty="0">
                <a:latin typeface="Times New Roman" panose="02020603050405020304" pitchFamily="18" charset="0"/>
              </a:rPr>
              <a:t> oy </a:t>
            </a:r>
            <a:r>
              <a:rPr lang="en-US" sz="1800" dirty="0" err="1">
                <a:latin typeface="Times New Roman" panose="02020603050405020304" pitchFamily="18" charset="0"/>
              </a:rPr>
              <a:t>kullanabilir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ve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en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fazla</a:t>
            </a:r>
            <a:r>
              <a:rPr lang="en-US" sz="1800" dirty="0">
                <a:latin typeface="Times New Roman" panose="02020603050405020304" pitchFamily="18" charset="0"/>
              </a:rPr>
              <a:t> oy </a:t>
            </a:r>
            <a:r>
              <a:rPr lang="en-US" sz="1800" dirty="0" err="1">
                <a:latin typeface="Times New Roman" panose="02020603050405020304" pitchFamily="18" charset="0"/>
              </a:rPr>
              <a:t>alan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üç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kişi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aday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gösterilmiş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sayılır</a:t>
            </a:r>
            <a:r>
              <a:rPr lang="en-US" sz="1800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0165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(2010 değişiklikleri ile)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4" y="2522481"/>
            <a:ext cx="6906873" cy="3121573"/>
          </a:xfrm>
        </p:spPr>
        <p:txBody>
          <a:bodyPr/>
          <a:lstStyle/>
          <a:p>
            <a:pPr indent="215900" algn="just">
              <a:spcBef>
                <a:spcPts val="300"/>
              </a:spcBef>
              <a:spcAft>
                <a:spcPts val="300"/>
              </a:spcAft>
            </a:pPr>
            <a:r>
              <a:rPr lang="en-US" sz="1800" dirty="0" err="1">
                <a:latin typeface="Times New Roman" panose="02020603050405020304" pitchFamily="18" charset="0"/>
              </a:rPr>
              <a:t>Anayasa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Mahkemesine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seçilebilmek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için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</a:rPr>
              <a:t>kırkbeş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yaşın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doldurulmuş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olması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kaydıyla</a:t>
            </a:r>
            <a:r>
              <a:rPr lang="en-US" sz="1800" dirty="0">
                <a:latin typeface="Times New Roman" panose="02020603050405020304" pitchFamily="18" charset="0"/>
              </a:rPr>
              <a:t>; </a:t>
            </a:r>
            <a:r>
              <a:rPr lang="en-US" sz="1800" dirty="0" err="1">
                <a:latin typeface="Times New Roman" panose="02020603050405020304" pitchFamily="18" charset="0"/>
              </a:rPr>
              <a:t>yükseköğretim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kurumları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öğretim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üyelerinin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profesör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veya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doçent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unvanını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kazanmış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</a:rPr>
              <a:t>avukatların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en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az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yirmi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yıl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fiilen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avukatlık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yapmış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</a:rPr>
              <a:t>üst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kademe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yöneticilerinin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yükseköğrenim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görmüş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ve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en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az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yirmi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yıl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kamu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hizmetinde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fiilen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çalışmış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</a:rPr>
              <a:t>birinci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sınıf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hâkim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ve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savcıların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adaylık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dahil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en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az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yirmi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yıl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çalışmış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olması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şarttır</a:t>
            </a:r>
            <a:r>
              <a:rPr lang="en-US" sz="1800" dirty="0">
                <a:latin typeface="Times New Roman" panose="02020603050405020304" pitchFamily="18" charset="0"/>
              </a:rPr>
              <a:t>.</a:t>
            </a:r>
          </a:p>
          <a:p>
            <a:pPr indent="215900" algn="just">
              <a:spcBef>
                <a:spcPts val="300"/>
              </a:spcBef>
              <a:spcAft>
                <a:spcPts val="300"/>
              </a:spcAft>
            </a:pPr>
            <a:r>
              <a:rPr lang="en-US" sz="1800" dirty="0" err="1">
                <a:latin typeface="Times New Roman" panose="02020603050405020304" pitchFamily="18" charset="0"/>
              </a:rPr>
              <a:t>Anayasa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Mahkemesi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üyeleri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arasından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gizli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oyla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ve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</a:t>
            </a:r>
            <a:r>
              <a:rPr lang="en-US" sz="1800" dirty="0">
                <a:latin typeface="Times New Roman" panose="02020603050405020304" pitchFamily="18" charset="0"/>
              </a:rPr>
              <a:t> tam </a:t>
            </a:r>
            <a:r>
              <a:rPr lang="en-US" sz="1800" dirty="0" err="1">
                <a:latin typeface="Times New Roman" panose="02020603050405020304" pitchFamily="18" charset="0"/>
              </a:rPr>
              <a:t>sayısının</a:t>
            </a:r>
            <a:r>
              <a:rPr lang="en-US" sz="1800" dirty="0">
                <a:latin typeface="Times New Roman" panose="02020603050405020304" pitchFamily="18" charset="0"/>
              </a:rPr>
              <a:t> salt </a:t>
            </a:r>
            <a:r>
              <a:rPr lang="en-US" sz="1800" dirty="0" err="1">
                <a:latin typeface="Times New Roman" panose="02020603050405020304" pitchFamily="18" charset="0"/>
              </a:rPr>
              <a:t>çoğunluğu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ile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dört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yıl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için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bir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Başkan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ve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iki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başkanvekili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seçilir</a:t>
            </a:r>
            <a:r>
              <a:rPr lang="en-US" sz="1800" dirty="0">
                <a:latin typeface="Times New Roman" panose="02020603050405020304" pitchFamily="18" charset="0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</a:rPr>
              <a:t>Süresi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bitenler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yeniden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seçilebilirler</a:t>
            </a:r>
            <a:r>
              <a:rPr lang="en-US" sz="1800" dirty="0">
                <a:latin typeface="Times New Roman" panose="02020603050405020304" pitchFamily="18" charset="0"/>
              </a:rPr>
              <a:t>.</a:t>
            </a:r>
          </a:p>
          <a:p>
            <a:pPr indent="215900" algn="just">
              <a:spcBef>
                <a:spcPts val="300"/>
              </a:spcBef>
              <a:spcAft>
                <a:spcPts val="300"/>
              </a:spcAft>
            </a:pPr>
            <a:r>
              <a:rPr lang="en-US" sz="1800" dirty="0" err="1">
                <a:latin typeface="Times New Roman" panose="02020603050405020304" pitchFamily="18" charset="0"/>
              </a:rPr>
              <a:t>Anayasa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Mahkemesi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üyeleri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aslî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görevleri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dışında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resmi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veya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özel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hiçbir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görev</a:t>
            </a:r>
            <a:r>
              <a:rPr lang="en-US" sz="1800" dirty="0">
                <a:latin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</a:rPr>
              <a:t>alamazlar</a:t>
            </a:r>
            <a:r>
              <a:rPr lang="en-US" sz="1800" dirty="0">
                <a:latin typeface="Times New Roman" panose="02020603050405020304" pitchFamily="18" charset="0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4256454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sz="2800" b="1" dirty="0"/>
              <a:t>2010 değişikliklerinin getirdikleri</a:t>
            </a:r>
          </a:p>
          <a:p>
            <a:pPr marL="804672" lvl="1" indent="-457200">
              <a:lnSpc>
                <a:spcPct val="100000"/>
              </a:lnSpc>
              <a:buFont typeface="Wingdings" pitchFamily="2" charset="2"/>
              <a:buChar char="ü"/>
            </a:pPr>
            <a:r>
              <a:rPr lang="tr-TR" sz="2400" dirty="0"/>
              <a:t>Meclise etki tanınmış</a:t>
            </a:r>
          </a:p>
          <a:p>
            <a:pPr marL="804672" lvl="1" indent="-457200">
              <a:lnSpc>
                <a:spcPct val="100000"/>
              </a:lnSpc>
              <a:buFont typeface="Wingdings" pitchFamily="2" charset="2"/>
              <a:buChar char="ü"/>
            </a:pPr>
            <a:r>
              <a:rPr lang="tr-TR" sz="2400" dirty="0"/>
              <a:t>Yargı kökenli üyelerin ağırlığı korunmuş</a:t>
            </a:r>
          </a:p>
          <a:p>
            <a:pPr marL="804672" lvl="1" indent="-457200">
              <a:lnSpc>
                <a:spcPct val="100000"/>
              </a:lnSpc>
              <a:buFont typeface="Wingdings" pitchFamily="2" charset="2"/>
              <a:buChar char="ü"/>
            </a:pPr>
            <a:r>
              <a:rPr lang="tr-TR" sz="2400" dirty="0"/>
              <a:t>Cumhurbaşkanının etkisi? </a:t>
            </a:r>
          </a:p>
          <a:p>
            <a:pPr marL="804672" lvl="1" indent="-457200">
              <a:lnSpc>
                <a:spcPct val="100000"/>
              </a:lnSpc>
              <a:buFont typeface="Wingdings" pitchFamily="2" charset="2"/>
              <a:buChar char="ü"/>
            </a:pPr>
            <a:r>
              <a:rPr lang="tr-TR" sz="2400" dirty="0"/>
              <a:t>Daha çoğulcu ve temsili bir yapı</a:t>
            </a:r>
          </a:p>
          <a:p>
            <a:pPr marL="804672" lvl="1" indent="-457200">
              <a:lnSpc>
                <a:spcPct val="100000"/>
              </a:lnSpc>
              <a:buFont typeface="Wingdings" pitchFamily="2" charset="2"/>
              <a:buChar char="ü"/>
            </a:pPr>
            <a:r>
              <a:rPr lang="tr-TR" sz="2400" dirty="0"/>
              <a:t>Yedek üyelik kaldırılmış</a:t>
            </a:r>
          </a:p>
          <a:p>
            <a:pPr marL="804672" lvl="1" indent="-457200">
              <a:lnSpc>
                <a:spcPct val="100000"/>
              </a:lnSpc>
              <a:buFont typeface="Wingdings" pitchFamily="2" charset="2"/>
              <a:buChar char="ü"/>
            </a:pPr>
            <a:r>
              <a:rPr lang="tr-TR" sz="2400" dirty="0"/>
              <a:t>Bireysel başvuru</a:t>
            </a:r>
          </a:p>
          <a:p>
            <a:pPr marL="804672" lvl="1" indent="-457200">
              <a:lnSpc>
                <a:spcPct val="100000"/>
              </a:lnSpc>
              <a:buFont typeface="Wingdings" pitchFamily="2" charset="2"/>
              <a:buChar char="ü"/>
            </a:pPr>
            <a:r>
              <a:rPr lang="tr-TR" sz="2400" dirty="0"/>
              <a:t>Üyelik on iki yılla sınırlanmış</a:t>
            </a:r>
          </a:p>
          <a:p>
            <a:endParaRPr lang="tr-TR" sz="2800" b="1" dirty="0"/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200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15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451394-A6E4-B9EC-4CD8-B600C8C18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8C14490-DD12-76EB-5630-FBCC69517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02" y="934720"/>
            <a:ext cx="10575802" cy="5466080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B380861C-9763-5966-6EB2-80B6A9DE3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89" y="934720"/>
            <a:ext cx="10444015" cy="546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83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2635" y="1844879"/>
            <a:ext cx="6400800" cy="2506404"/>
          </a:xfrm>
        </p:spPr>
        <p:txBody>
          <a:bodyPr anchor="ctr"/>
          <a:lstStyle/>
          <a:p>
            <a:pPr algn="ctr">
              <a:lnSpc>
                <a:spcPct val="200000"/>
              </a:lnSpc>
            </a:pP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Anayasa</a:t>
            </a:r>
            <a:r>
              <a:rPr lang="en-US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Mahkemesinin</a:t>
            </a:r>
            <a:r>
              <a:rPr lang="en-US" sz="3600" b="1" dirty="0">
                <a:latin typeface="Sabon Next LT" panose="02000500000000000000" pitchFamily="2" charset="0"/>
                <a:cs typeface="Sabon Next LT" panose="02000500000000000000" pitchFamily="2" charset="0"/>
              </a:rPr>
              <a:t> </a:t>
            </a:r>
            <a:r>
              <a:rPr lang="en-US" sz="3600" b="1" dirty="0" err="1">
                <a:latin typeface="Sabon Next LT" panose="02000500000000000000" pitchFamily="2" charset="0"/>
                <a:cs typeface="Sabon Next LT" panose="02000500000000000000" pitchFamily="2" charset="0"/>
              </a:rPr>
              <a:t>Görevleri</a:t>
            </a:r>
            <a:endParaRPr lang="en-US" sz="3600" b="1" dirty="0"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726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99611" cy="47554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sz="2800" b="1" dirty="0"/>
              <a:t>Mahkemenin Görevleri</a:t>
            </a:r>
          </a:p>
          <a:p>
            <a:pPr marL="804672" lvl="1" indent="-457200">
              <a:lnSpc>
                <a:spcPct val="100000"/>
              </a:lnSpc>
              <a:buFont typeface="Wingdings" pitchFamily="2" charset="2"/>
              <a:buChar char="ü"/>
            </a:pPr>
            <a:r>
              <a:rPr lang="tr-TR" sz="2400" dirty="0"/>
              <a:t>Anayasaya uygunluk denetimi</a:t>
            </a:r>
          </a:p>
          <a:p>
            <a:pPr marL="804672" lvl="1" indent="-457200">
              <a:lnSpc>
                <a:spcPct val="100000"/>
              </a:lnSpc>
              <a:buFont typeface="Wingdings" pitchFamily="2" charset="2"/>
              <a:buChar char="ü"/>
            </a:pPr>
            <a:r>
              <a:rPr lang="tr-TR" sz="2400" dirty="0"/>
              <a:t>Bireysel Başvuruları karara bağlamak</a:t>
            </a:r>
          </a:p>
          <a:p>
            <a:pPr marL="804672" lvl="1" indent="-457200">
              <a:lnSpc>
                <a:spcPct val="100000"/>
              </a:lnSpc>
              <a:buFont typeface="Wingdings" pitchFamily="2" charset="2"/>
              <a:buChar char="ü"/>
            </a:pPr>
            <a:r>
              <a:rPr lang="tr-TR" sz="2400" dirty="0"/>
              <a:t>Yüce divan sıfatıyla yargılama yapmak</a:t>
            </a:r>
          </a:p>
          <a:p>
            <a:pPr marL="804672" lvl="1" indent="-457200">
              <a:lnSpc>
                <a:spcPct val="100000"/>
              </a:lnSpc>
              <a:buFont typeface="Wingdings" pitchFamily="2" charset="2"/>
              <a:buChar char="ü"/>
            </a:pPr>
            <a:r>
              <a:rPr lang="tr-TR" sz="2400" dirty="0"/>
              <a:t>Siyasi partilerin kapatılması davaları</a:t>
            </a:r>
          </a:p>
          <a:p>
            <a:pPr marL="804672" lvl="1" indent="-457200">
              <a:lnSpc>
                <a:spcPct val="100000"/>
              </a:lnSpc>
              <a:buFont typeface="Wingdings" pitchFamily="2" charset="2"/>
              <a:buChar char="ü"/>
            </a:pPr>
            <a:r>
              <a:rPr lang="tr-TR" sz="2400" dirty="0"/>
              <a:t>Siyasi partilerin mali denetimi</a:t>
            </a:r>
          </a:p>
          <a:p>
            <a:pPr marL="804672" lvl="1" indent="-457200">
              <a:lnSpc>
                <a:spcPct val="100000"/>
              </a:lnSpc>
              <a:buFont typeface="Wingdings" pitchFamily="2" charset="2"/>
              <a:buChar char="ü"/>
            </a:pPr>
            <a:r>
              <a:rPr lang="tr-TR" sz="2400" dirty="0"/>
              <a:t>Yasama dokunulmazlıklarının kaldırılması kararlarının denetimi</a:t>
            </a:r>
          </a:p>
          <a:p>
            <a:pPr marL="804672" lvl="1" indent="-457200">
              <a:lnSpc>
                <a:spcPct val="100000"/>
              </a:lnSpc>
              <a:buFont typeface="Wingdings" pitchFamily="2" charset="2"/>
              <a:buChar char="ü"/>
            </a:pPr>
            <a:r>
              <a:rPr lang="tr-TR" sz="2400" dirty="0"/>
              <a:t>Milletvekilliğinin düşmesi kararlarının denetimi</a:t>
            </a:r>
          </a:p>
          <a:p>
            <a:pPr marL="804672" lvl="1" indent="-457200">
              <a:lnSpc>
                <a:spcPct val="100000"/>
              </a:lnSpc>
              <a:buFont typeface="Wingdings" pitchFamily="2" charset="2"/>
              <a:buChar char="ü"/>
            </a:pPr>
            <a:r>
              <a:rPr lang="tr-TR" sz="2400" dirty="0"/>
              <a:t>Uyuşmazlık mahkemesine başkan seçmek</a:t>
            </a:r>
          </a:p>
          <a:p>
            <a:endParaRPr lang="tr-TR" sz="2800" b="1" dirty="0"/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006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m.148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972" y="2522481"/>
            <a:ext cx="7037396" cy="3121573"/>
          </a:xfrm>
        </p:spPr>
        <p:txBody>
          <a:bodyPr/>
          <a:lstStyle/>
          <a:p>
            <a:pPr algn="just"/>
            <a:r>
              <a:rPr lang="en-US" sz="1800" dirty="0">
                <a:effectLst/>
                <a:latin typeface="TimesNewRomanPSMT"/>
              </a:rPr>
              <a:t>	Herkes, </a:t>
            </a:r>
            <a:r>
              <a:rPr lang="en-US" sz="1800" dirty="0" err="1">
                <a:effectLst/>
                <a:latin typeface="TimesNewRomanPSMT"/>
              </a:rPr>
              <a:t>Anayasada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güvence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altına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alınmıs</a:t>
            </a:r>
            <a:r>
              <a:rPr lang="en-US" sz="1800" dirty="0">
                <a:effectLst/>
                <a:latin typeface="TimesNewRomanPSMT"/>
              </a:rPr>
              <a:t>̧ </a:t>
            </a:r>
            <a:r>
              <a:rPr lang="en-US" sz="1800" dirty="0" err="1">
                <a:effectLst/>
                <a:latin typeface="TimesNewRomanPSMT"/>
              </a:rPr>
              <a:t>temel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hak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özgürlüklerinden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Avrupa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İnsan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Hakları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Sözleşmesi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kapsamındaki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herhangi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birinin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kamu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gücu</a:t>
            </a:r>
            <a:r>
              <a:rPr lang="en-US" sz="1800" dirty="0">
                <a:effectLst/>
                <a:latin typeface="TimesNewRomanPSMT"/>
              </a:rPr>
              <a:t>̈ </a:t>
            </a:r>
            <a:r>
              <a:rPr lang="en-US" sz="1800" dirty="0" err="1">
                <a:effectLst/>
                <a:latin typeface="TimesNewRomanPSMT"/>
              </a:rPr>
              <a:t>tarafından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ihlal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edildiği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iddiasıyla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Anayasa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Mahkemesine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başvurabilir</a:t>
            </a:r>
            <a:r>
              <a:rPr lang="en-US" sz="1800" u="sng" dirty="0">
                <a:effectLst/>
                <a:latin typeface="TimesNewRomanPSMT"/>
              </a:rPr>
              <a:t>.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Başvuruda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bulunabilmek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için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olağan</a:t>
            </a:r>
            <a:r>
              <a:rPr lang="en-US" sz="1800" dirty="0">
                <a:effectLst/>
                <a:latin typeface="TimesNewRomanPSMT"/>
              </a:rPr>
              <a:t> kanun </a:t>
            </a:r>
            <a:r>
              <a:rPr lang="en-US" sz="1800" dirty="0" err="1">
                <a:effectLst/>
                <a:latin typeface="TimesNewRomanPSMT"/>
              </a:rPr>
              <a:t>yollarının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tüketilmis</a:t>
            </a:r>
            <a:r>
              <a:rPr lang="en-US" sz="1800" dirty="0">
                <a:effectLst/>
                <a:latin typeface="TimesNewRomanPSMT"/>
              </a:rPr>
              <a:t>̧ </a:t>
            </a:r>
            <a:r>
              <a:rPr lang="en-US" sz="1800" dirty="0" err="1">
                <a:effectLst/>
                <a:latin typeface="TimesNewRomanPSMT"/>
              </a:rPr>
              <a:t>olması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şarttır</a:t>
            </a:r>
            <a:r>
              <a:rPr lang="en-US" sz="1800" dirty="0">
                <a:effectLst/>
                <a:latin typeface="TimesNewRomanPSMT"/>
              </a:rPr>
              <a:t>. </a:t>
            </a:r>
            <a:endParaRPr lang="en-US" sz="24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44188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m.148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4" y="2522481"/>
            <a:ext cx="7733092" cy="3767496"/>
          </a:xfrm>
        </p:spPr>
        <p:txBody>
          <a:bodyPr/>
          <a:lstStyle/>
          <a:p>
            <a:pPr algn="just"/>
            <a:r>
              <a:rPr lang="en-US" sz="1800" dirty="0">
                <a:effectLst/>
                <a:latin typeface="TimesNewRomanPSMT"/>
              </a:rPr>
              <a:t>	</a:t>
            </a:r>
            <a:r>
              <a:rPr lang="en-US" sz="1800" dirty="0" err="1">
                <a:effectLst/>
                <a:latin typeface="TimesNewRomanPSMT"/>
              </a:rPr>
              <a:t>Anayasa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Mahkemesi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Cumhurbaşkanını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Türkiye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Büyük</a:t>
            </a:r>
            <a:r>
              <a:rPr lang="en-US" sz="1800" dirty="0">
                <a:effectLst/>
                <a:latin typeface="TimesNewRomanPSMT"/>
              </a:rPr>
              <a:t> Millet </a:t>
            </a:r>
            <a:r>
              <a:rPr lang="en-US" sz="1800" dirty="0" err="1">
                <a:effectLst/>
                <a:latin typeface="TimesNewRomanPSMT"/>
              </a:rPr>
              <a:t>Meclisi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Başkanını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Cumhurbaşkanı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yardımcılarını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bakanları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Anayasa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Mahkemesi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Yargıtay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Danıştay</a:t>
            </a:r>
            <a:r>
              <a:rPr lang="en-US" sz="1800" dirty="0">
                <a:effectLst/>
                <a:latin typeface="TimesNewRomanPSMT"/>
              </a:rPr>
              <a:t> (...) </a:t>
            </a:r>
            <a:r>
              <a:rPr lang="en-US" sz="1800" dirty="0" err="1">
                <a:effectLst/>
                <a:latin typeface="TimesNewRomanPSMT"/>
              </a:rPr>
              <a:t>Başkan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üyelerini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Başsavcılarını</a:t>
            </a:r>
            <a:r>
              <a:rPr lang="en-US" sz="1800" dirty="0">
                <a:effectLst/>
                <a:latin typeface="TimesNewRomanPSMT"/>
              </a:rPr>
              <a:t>, Cumhuriyet </a:t>
            </a:r>
            <a:r>
              <a:rPr lang="en-US" sz="1800" dirty="0" err="1">
                <a:effectLst/>
                <a:latin typeface="TimesNewRomanPSMT"/>
              </a:rPr>
              <a:t>Başsavcıvekilini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Hakimler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Savcılar</a:t>
            </a:r>
            <a:r>
              <a:rPr lang="en-US" sz="1800" dirty="0">
                <a:effectLst/>
                <a:latin typeface="TimesNewRomanPSMT"/>
              </a:rPr>
              <a:t> (...) </a:t>
            </a:r>
            <a:r>
              <a:rPr lang="en-US" sz="1800" dirty="0" err="1">
                <a:effectLst/>
                <a:latin typeface="TimesNewRomanPSMT"/>
              </a:rPr>
              <a:t>Kurulu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Sayıştay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Başkan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üyelerini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görevleriyle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ilgili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suçlardan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dolayı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Yüce</a:t>
            </a:r>
            <a:r>
              <a:rPr lang="en-US" sz="1800" u="sng" dirty="0">
                <a:effectLst/>
                <a:latin typeface="TimesNewRomanPSMT"/>
              </a:rPr>
              <a:t> Divan </a:t>
            </a:r>
            <a:r>
              <a:rPr lang="en-US" sz="1800" u="sng" dirty="0" err="1">
                <a:effectLst/>
                <a:latin typeface="TimesNewRomanPSMT"/>
              </a:rPr>
              <a:t>sıfatıyla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yargılar</a:t>
            </a:r>
            <a:r>
              <a:rPr lang="en-US" sz="1800" dirty="0">
                <a:effectLst/>
                <a:latin typeface="TimesNewRomanPSMT"/>
              </a:rPr>
              <a:t>. </a:t>
            </a:r>
          </a:p>
          <a:p>
            <a:pPr algn="just"/>
            <a:r>
              <a:rPr lang="en-US" sz="1800" dirty="0">
                <a:effectLst/>
                <a:latin typeface="TimesNewRomanPSMT"/>
              </a:rPr>
              <a:t>	</a:t>
            </a:r>
            <a:r>
              <a:rPr lang="en-US" sz="1800" dirty="0" err="1">
                <a:effectLst/>
                <a:latin typeface="TimesNewRomanPSMT"/>
              </a:rPr>
              <a:t>Genelkurmay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Başkanı</a:t>
            </a:r>
            <a:r>
              <a:rPr lang="en-US" sz="1800" dirty="0">
                <a:effectLst/>
                <a:latin typeface="TimesNewRomanPSMT"/>
              </a:rPr>
              <a:t>, Kara, Deniz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Hava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Kuvvetleri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Komutanları</a:t>
            </a:r>
            <a:r>
              <a:rPr lang="en-US" sz="1800" dirty="0">
                <a:effectLst/>
                <a:latin typeface="TimesNewRomanPSMT"/>
              </a:rPr>
              <a:t> (...)89 da </a:t>
            </a:r>
            <a:r>
              <a:rPr lang="en-US" sz="1800" dirty="0" err="1">
                <a:effectLst/>
                <a:latin typeface="TimesNewRomanPSMT"/>
              </a:rPr>
              <a:t>görevleriyle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ilgili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suçlardan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dolayı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Yüce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Divanda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yargılanırlar</a:t>
            </a:r>
            <a:r>
              <a:rPr lang="en-US" sz="1800" dirty="0">
                <a:effectLst/>
                <a:latin typeface="TimesNewRomanPSMT"/>
              </a:rPr>
              <a:t>. </a:t>
            </a:r>
            <a:endParaRPr lang="en-US" sz="2000" dirty="0"/>
          </a:p>
          <a:p>
            <a:pPr algn="just"/>
            <a:r>
              <a:rPr lang="en-US" sz="1800" dirty="0">
                <a:effectLst/>
                <a:latin typeface="TimesNewRomanPSMT"/>
              </a:rPr>
              <a:t>	</a:t>
            </a:r>
            <a:r>
              <a:rPr lang="en-US" sz="1800" dirty="0" err="1">
                <a:effectLst/>
                <a:latin typeface="TimesNewRomanPSMT"/>
              </a:rPr>
              <a:t>Yüce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Divanda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savcılık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görevini</a:t>
            </a:r>
            <a:r>
              <a:rPr lang="en-US" sz="1800" dirty="0">
                <a:effectLst/>
                <a:latin typeface="TimesNewRomanPSMT"/>
              </a:rPr>
              <a:t> Cumhuriyet </a:t>
            </a:r>
            <a:r>
              <a:rPr lang="en-US" sz="1800" dirty="0" err="1">
                <a:effectLst/>
                <a:latin typeface="TimesNewRomanPSMT"/>
              </a:rPr>
              <a:t>Başsavcısı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veya</a:t>
            </a:r>
            <a:r>
              <a:rPr lang="en-US" sz="1800" dirty="0">
                <a:effectLst/>
                <a:latin typeface="TimesNewRomanPSMT"/>
              </a:rPr>
              <a:t> Cumhuriyet </a:t>
            </a:r>
            <a:r>
              <a:rPr lang="en-US" sz="1800" dirty="0" err="1">
                <a:effectLst/>
                <a:latin typeface="TimesNewRomanPSMT"/>
              </a:rPr>
              <a:t>Başsavcıvekili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yapar</a:t>
            </a:r>
            <a:r>
              <a:rPr lang="en-US" sz="1800" dirty="0">
                <a:effectLst/>
                <a:latin typeface="TimesNewRomanPSMT"/>
              </a:rPr>
              <a:t>. </a:t>
            </a:r>
            <a:endParaRPr lang="en-US" sz="2000" dirty="0"/>
          </a:p>
          <a:p>
            <a:pPr algn="just"/>
            <a:r>
              <a:rPr lang="en-US" sz="1800" dirty="0">
                <a:effectLst/>
                <a:latin typeface="TimesNewRomanPSMT"/>
              </a:rPr>
              <a:t>	</a:t>
            </a:r>
            <a:r>
              <a:rPr lang="en-US" sz="1800" dirty="0" err="1">
                <a:effectLst/>
                <a:latin typeface="TimesNewRomanPSMT"/>
              </a:rPr>
              <a:t>Yüce</a:t>
            </a:r>
            <a:r>
              <a:rPr lang="en-US" sz="1800" dirty="0">
                <a:effectLst/>
                <a:latin typeface="TimesNewRomanPSMT"/>
              </a:rPr>
              <a:t> Divan </a:t>
            </a:r>
            <a:r>
              <a:rPr lang="en-US" sz="1800" dirty="0" err="1">
                <a:effectLst/>
                <a:latin typeface="TimesNewRomanPSMT"/>
              </a:rPr>
              <a:t>kararlarına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karşı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yeniden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inceleme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başvurusu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yapılabilir</a:t>
            </a:r>
            <a:r>
              <a:rPr lang="en-US" sz="1800" dirty="0">
                <a:effectLst/>
                <a:latin typeface="TimesNewRomanPSMT"/>
              </a:rPr>
              <a:t>. </a:t>
            </a:r>
            <a:r>
              <a:rPr lang="en-US" sz="1800" dirty="0" err="1">
                <a:effectLst/>
                <a:latin typeface="TimesNewRomanPSMT"/>
              </a:rPr>
              <a:t>Genel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Kurulun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yeniden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inceleme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sonucunda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verdiği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kararlar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kesindir</a:t>
            </a:r>
            <a:r>
              <a:rPr lang="en-US" sz="1800" dirty="0">
                <a:effectLst/>
                <a:latin typeface="TimesNewRomanPSMT"/>
              </a:rPr>
              <a:t>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73229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m.69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4" y="2522481"/>
            <a:ext cx="7733092" cy="3767496"/>
          </a:xfrm>
        </p:spPr>
        <p:txBody>
          <a:bodyPr/>
          <a:lstStyle/>
          <a:p>
            <a:pPr algn="just"/>
            <a:r>
              <a:rPr lang="en-US" sz="1800" dirty="0">
                <a:effectLst/>
                <a:latin typeface="TimesNewRomanPSMT"/>
              </a:rPr>
              <a:t>	</a:t>
            </a:r>
            <a:r>
              <a:rPr lang="en-US" sz="1800" dirty="0" err="1">
                <a:effectLst/>
                <a:latin typeface="TimesNewRomanPSMT"/>
              </a:rPr>
              <a:t>Siyasi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partilerin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gelir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giderlerinin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amaçlarına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uygun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olması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gereklidir</a:t>
            </a:r>
            <a:r>
              <a:rPr lang="en-US" sz="1800" dirty="0">
                <a:effectLst/>
                <a:latin typeface="TimesNewRomanPSMT"/>
              </a:rPr>
              <a:t>. Bu </a:t>
            </a:r>
            <a:r>
              <a:rPr lang="en-US" sz="1800" dirty="0" err="1">
                <a:effectLst/>
                <a:latin typeface="TimesNewRomanPSMT"/>
              </a:rPr>
              <a:t>kuralın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uygulanması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kanunla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düzenlenir</a:t>
            </a:r>
            <a:r>
              <a:rPr lang="en-US" sz="1800" dirty="0">
                <a:effectLst/>
                <a:latin typeface="TimesNewRomanPSMT"/>
              </a:rPr>
              <a:t>. </a:t>
            </a:r>
            <a:r>
              <a:rPr lang="en-US" sz="1800" dirty="0" err="1">
                <a:effectLst/>
                <a:latin typeface="TimesNewRomanPSMT"/>
              </a:rPr>
              <a:t>Anayasa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Mahkemesince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siyasi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partilerin</a:t>
            </a:r>
            <a:r>
              <a:rPr lang="en-US" sz="1800" dirty="0">
                <a:effectLst/>
                <a:latin typeface="TimesNewRomanPSMT"/>
              </a:rPr>
              <a:t> mal </a:t>
            </a:r>
            <a:r>
              <a:rPr lang="en-US" sz="1800" dirty="0" err="1">
                <a:effectLst/>
                <a:latin typeface="TimesNewRomanPSMT"/>
              </a:rPr>
              <a:t>edinimleri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ile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gelir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giderlerinin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kanuna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uygunluğunun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tespiti</a:t>
            </a:r>
            <a:r>
              <a:rPr lang="en-US" sz="1800" u="sng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bu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hususun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denetim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yöntemleri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aykırılık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halinde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uygulanacak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yaptırımlar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kanunda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gösterilir</a:t>
            </a:r>
            <a:r>
              <a:rPr lang="en-US" sz="1800" dirty="0">
                <a:effectLst/>
                <a:latin typeface="TimesNewRomanPSMT"/>
              </a:rPr>
              <a:t>. </a:t>
            </a:r>
            <a:r>
              <a:rPr lang="en-US" sz="1800" dirty="0" err="1">
                <a:effectLst/>
                <a:latin typeface="TimesNewRomanPSMT"/>
              </a:rPr>
              <a:t>Anayasa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Mahkemesi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bu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denetim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görevini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yerine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getirirken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Sayıştaydan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yardım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sağlar</a:t>
            </a:r>
            <a:r>
              <a:rPr lang="en-US" sz="1800" dirty="0">
                <a:effectLst/>
                <a:latin typeface="TimesNewRomanPSMT"/>
              </a:rPr>
              <a:t>. </a:t>
            </a:r>
            <a:r>
              <a:rPr lang="en-US" sz="1800" dirty="0" err="1">
                <a:effectLst/>
                <a:latin typeface="TimesNewRomanPSMT"/>
              </a:rPr>
              <a:t>Anayasa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Mahkemesinin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bu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denetim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sonunda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vereceği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kararlar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kesindir</a:t>
            </a:r>
            <a:r>
              <a:rPr lang="en-US" sz="1800" dirty="0">
                <a:effectLst/>
                <a:latin typeface="TimesNewRomanPSMT"/>
              </a:rPr>
              <a:t>. </a:t>
            </a:r>
            <a:endParaRPr lang="en-US" sz="2000" dirty="0"/>
          </a:p>
          <a:p>
            <a:pPr algn="just"/>
            <a:r>
              <a:rPr lang="en-US" sz="1800" dirty="0">
                <a:effectLst/>
                <a:latin typeface="TimesNewRomanPSMT"/>
              </a:rPr>
              <a:t>	</a:t>
            </a:r>
            <a:r>
              <a:rPr lang="en-US" sz="1800" dirty="0" err="1">
                <a:effectLst/>
                <a:latin typeface="TimesNewRomanPSMT"/>
              </a:rPr>
              <a:t>Siyasi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partilerin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kapatılması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Yargıtay</a:t>
            </a:r>
            <a:r>
              <a:rPr lang="en-US" sz="1800" dirty="0">
                <a:effectLst/>
                <a:latin typeface="TimesNewRomanPSMT"/>
              </a:rPr>
              <a:t> Cumhuriyet </a:t>
            </a:r>
            <a:r>
              <a:rPr lang="en-US" sz="1800" dirty="0" err="1">
                <a:effectLst/>
                <a:latin typeface="TimesNewRomanPSMT"/>
              </a:rPr>
              <a:t>Başsavcısının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açacağı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dava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üzerine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Anayasa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Mahkemesince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kesin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olarak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karara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bağlanır</a:t>
            </a:r>
            <a:r>
              <a:rPr lang="en-US" sz="1800" dirty="0">
                <a:effectLst/>
                <a:latin typeface="TimesNewRomanPSMT"/>
              </a:rPr>
              <a:t>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42357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m.85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4" y="2522481"/>
            <a:ext cx="7733092" cy="3767496"/>
          </a:xfrm>
        </p:spPr>
        <p:txBody>
          <a:bodyPr/>
          <a:lstStyle/>
          <a:p>
            <a:pPr algn="just"/>
            <a:r>
              <a:rPr lang="en-US" sz="1800" dirty="0">
                <a:effectLst/>
                <a:latin typeface="TimesNewRomanPSMT"/>
              </a:rPr>
              <a:t>	</a:t>
            </a:r>
            <a:r>
              <a:rPr lang="en-US" sz="1800" dirty="0" err="1">
                <a:effectLst/>
                <a:latin typeface="TimesNewRomanPSMT"/>
              </a:rPr>
              <a:t>Yasama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dokunulmazlığının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kaldırılmasına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veya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milletvekilliğinin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düşmesine</a:t>
            </a:r>
            <a:r>
              <a:rPr lang="en-US" sz="1800" dirty="0">
                <a:effectLst/>
                <a:latin typeface="TimesNewRomanPSMT"/>
              </a:rPr>
              <a:t> 84 </a:t>
            </a:r>
            <a:r>
              <a:rPr lang="en-US" sz="1800" dirty="0" err="1">
                <a:effectLst/>
                <a:latin typeface="TimesNewRomanPSMT"/>
              </a:rPr>
              <a:t>üncu</a:t>
            </a:r>
            <a:r>
              <a:rPr lang="en-US" sz="1800" dirty="0">
                <a:effectLst/>
                <a:latin typeface="TimesNewRomanPSMT"/>
              </a:rPr>
              <a:t>̈ </a:t>
            </a:r>
            <a:r>
              <a:rPr lang="en-US" sz="1800" dirty="0" err="1">
                <a:effectLst/>
                <a:latin typeface="TimesNewRomanPSMT"/>
              </a:rPr>
              <a:t>maddenin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birinci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üçüncu</a:t>
            </a:r>
            <a:r>
              <a:rPr lang="en-US" sz="1800" dirty="0">
                <a:effectLst/>
                <a:latin typeface="TimesNewRomanPSMT"/>
              </a:rPr>
              <a:t>̈ </a:t>
            </a:r>
            <a:r>
              <a:rPr lang="en-US" sz="1800" dirty="0" err="1">
                <a:effectLst/>
                <a:latin typeface="TimesNewRomanPSMT"/>
              </a:rPr>
              <a:t>veya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dördüncu</a:t>
            </a:r>
            <a:r>
              <a:rPr lang="en-US" sz="1800" dirty="0">
                <a:effectLst/>
                <a:latin typeface="TimesNewRomanPSMT"/>
              </a:rPr>
              <a:t>̈ </a:t>
            </a:r>
            <a:r>
              <a:rPr lang="en-US" sz="1800" dirty="0" err="1">
                <a:effectLst/>
                <a:latin typeface="TimesNewRomanPSMT"/>
              </a:rPr>
              <a:t>fıkralarına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göre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karar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verilmis</a:t>
            </a:r>
            <a:r>
              <a:rPr lang="en-US" sz="1800" dirty="0">
                <a:effectLst/>
                <a:latin typeface="TimesNewRomanPSMT"/>
              </a:rPr>
              <a:t>̧ </a:t>
            </a:r>
            <a:r>
              <a:rPr lang="en-US" sz="1800" dirty="0" err="1">
                <a:effectLst/>
                <a:latin typeface="TimesNewRomanPSMT"/>
              </a:rPr>
              <a:t>olması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hallerinde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Meclis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Genel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Kurulu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kararının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alındığı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tarihten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başlayarak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yedi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gün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içerisinde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ilgili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milletvekili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veya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bir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diğer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milletvekili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kararın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Anayasaya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kanuna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veya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İçtüzüğe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aykırılığı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iddiasıyla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iptali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için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Anayasa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Mahkemesine</a:t>
            </a:r>
            <a:r>
              <a:rPr lang="en-US" sz="1800" u="sng" dirty="0">
                <a:effectLst/>
                <a:latin typeface="TimesNewRomanPSMT"/>
              </a:rPr>
              <a:t> </a:t>
            </a:r>
            <a:r>
              <a:rPr lang="en-US" sz="1800" u="sng" dirty="0" err="1">
                <a:effectLst/>
                <a:latin typeface="TimesNewRomanPSMT"/>
              </a:rPr>
              <a:t>başvurabilir</a:t>
            </a:r>
            <a:r>
              <a:rPr lang="en-US" sz="1800" u="sng" dirty="0">
                <a:effectLst/>
                <a:latin typeface="TimesNewRomanPSMT"/>
              </a:rPr>
              <a:t>. </a:t>
            </a:r>
            <a:r>
              <a:rPr lang="en-US" sz="1800" dirty="0" err="1">
                <a:effectLst/>
                <a:latin typeface="TimesNewRomanPSMT"/>
              </a:rPr>
              <a:t>Anayasa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Mahkemesi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iptal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istemini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onbes</a:t>
            </a:r>
            <a:r>
              <a:rPr lang="en-US" sz="1800" dirty="0">
                <a:effectLst/>
                <a:latin typeface="TimesNewRomanPSMT"/>
              </a:rPr>
              <a:t>̧ </a:t>
            </a:r>
            <a:r>
              <a:rPr lang="en-US" sz="1800" dirty="0" err="1">
                <a:effectLst/>
                <a:latin typeface="TimesNewRomanPSMT"/>
              </a:rPr>
              <a:t>gün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içerisinde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kesin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karara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bağlar</a:t>
            </a:r>
            <a:r>
              <a:rPr lang="en-US" sz="1800" dirty="0">
                <a:effectLst/>
                <a:latin typeface="TimesNewRomanPSMT"/>
              </a:rPr>
              <a:t>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63766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Anayasa</a:t>
            </a:r>
            <a:r>
              <a:rPr lang="en-US" dirty="0"/>
              <a:t> </a:t>
            </a:r>
            <a:r>
              <a:rPr lang="en-US" dirty="0" err="1"/>
              <a:t>Yargısına</a:t>
            </a:r>
            <a:r>
              <a:rPr lang="en-US" dirty="0"/>
              <a:t> </a:t>
            </a:r>
            <a:r>
              <a:rPr lang="en-US" dirty="0" err="1"/>
              <a:t>Giriş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56187E-7E56-28DF-8B05-7CB9D18D0B13}"/>
              </a:ext>
            </a:extLst>
          </p:cNvPr>
          <p:cNvSpPr txBox="1">
            <a:spLocks/>
          </p:cNvSpPr>
          <p:nvPr/>
        </p:nvSpPr>
        <p:spPr>
          <a:xfrm>
            <a:off x="4224527" y="1435125"/>
            <a:ext cx="7547059" cy="3767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b="1" dirty="0"/>
              <a:t>Anayasa m.158/2</a:t>
            </a:r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BF9542-76E2-BE0E-1168-4DB5FE0ACE44}"/>
              </a:ext>
            </a:extLst>
          </p:cNvPr>
          <p:cNvSpPr txBox="1">
            <a:spLocks/>
          </p:cNvSpPr>
          <p:nvPr/>
        </p:nvSpPr>
        <p:spPr>
          <a:xfrm>
            <a:off x="4224528" y="3222751"/>
            <a:ext cx="5693664" cy="724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A2650E-B31C-D06F-93DE-9404579E1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494" y="2522481"/>
            <a:ext cx="7733092" cy="3767496"/>
          </a:xfrm>
        </p:spPr>
        <p:txBody>
          <a:bodyPr/>
          <a:lstStyle/>
          <a:p>
            <a:pPr algn="just"/>
            <a:r>
              <a:rPr lang="en-US" sz="1800" dirty="0">
                <a:effectLst/>
                <a:latin typeface="TimesNewRomanPSMT"/>
              </a:rPr>
              <a:t>	</a:t>
            </a:r>
            <a:r>
              <a:rPr lang="en-US" sz="1800" dirty="0" err="1">
                <a:effectLst/>
                <a:latin typeface="TimesNewRomanPSMT"/>
              </a:rPr>
              <a:t>Uyuşmazlık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Mahkemesinin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kuruluşu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üyelerinin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nitelikleri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ve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seçimleri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ile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işleyişi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kanunla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düzenlenir</a:t>
            </a:r>
            <a:r>
              <a:rPr lang="en-US" sz="1800" dirty="0">
                <a:effectLst/>
                <a:latin typeface="TimesNewRomanPSMT"/>
              </a:rPr>
              <a:t>. Bu </a:t>
            </a:r>
            <a:r>
              <a:rPr lang="en-US" sz="1800" dirty="0" err="1">
                <a:effectLst/>
                <a:latin typeface="TimesNewRomanPSMT"/>
              </a:rPr>
              <a:t>mahkemenin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Başkanlığını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Anayasa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Mahkemesince</a:t>
            </a:r>
            <a:r>
              <a:rPr lang="en-US" sz="1800" dirty="0">
                <a:effectLst/>
                <a:latin typeface="TimesNewRomanPSMT"/>
              </a:rPr>
              <a:t>, </a:t>
            </a:r>
            <a:r>
              <a:rPr lang="en-US" sz="1800" dirty="0" err="1">
                <a:effectLst/>
                <a:latin typeface="TimesNewRomanPSMT"/>
              </a:rPr>
              <a:t>kendi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üyeleri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arasından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görevlendirilen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üye</a:t>
            </a:r>
            <a:r>
              <a:rPr lang="en-US" sz="1800" dirty="0">
                <a:effectLst/>
                <a:latin typeface="TimesNewRomanPSMT"/>
              </a:rPr>
              <a:t> </a:t>
            </a:r>
            <a:r>
              <a:rPr lang="en-US" sz="1800" dirty="0" err="1">
                <a:effectLst/>
                <a:latin typeface="TimesNewRomanPSMT"/>
              </a:rPr>
              <a:t>yapar</a:t>
            </a:r>
            <a:r>
              <a:rPr lang="en-US" sz="1800" dirty="0">
                <a:effectLst/>
                <a:latin typeface="TimesNewRomanPSMT"/>
              </a:rPr>
              <a:t>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76673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5104980" cy="667512"/>
          </a:xfrm>
        </p:spPr>
        <p:txBody>
          <a:bodyPr/>
          <a:lstStyle/>
          <a:p>
            <a:r>
              <a:rPr lang="en-US" dirty="0" err="1"/>
              <a:t>Teşekkürler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7DFD8-D262-D485-B1F2-817C5A092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Ar. </a:t>
            </a:r>
            <a:r>
              <a:rPr lang="en-US" dirty="0" err="1"/>
              <a:t>Gör</a:t>
            </a:r>
            <a:r>
              <a:rPr lang="en-US" dirty="0"/>
              <a:t>. Kardelen Altun</a:t>
            </a:r>
          </a:p>
          <a:p>
            <a:r>
              <a:rPr lang="en-US" dirty="0" err="1"/>
              <a:t>kardelenaltun@gmail.com</a:t>
            </a:r>
            <a:endParaRPr lang="en-US" dirty="0"/>
          </a:p>
          <a:p>
            <a:r>
              <a:rPr lang="en-US" dirty="0" err="1"/>
              <a:t>kardelenaltun@Ankara.edu.tr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-Color-Block_Win32_jx_v9.potx" id="{B1D493D9-AF74-4AD6-8F0C-5B1308D7041B}" vid="{1AA99070-5A1F-42D2-9F5B-E7354C964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4193</TotalTime>
  <Words>1822</Words>
  <Application>Microsoft Macintosh PowerPoint</Application>
  <PresentationFormat>Geniş ekran</PresentationFormat>
  <Paragraphs>117</Paragraphs>
  <Slides>23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31" baseType="lpstr">
      <vt:lpstr>Arial</vt:lpstr>
      <vt:lpstr>Arial Black</vt:lpstr>
      <vt:lpstr>Sabon Next LT</vt:lpstr>
      <vt:lpstr>Times New Roman</vt:lpstr>
      <vt:lpstr>Times New Roman,Bold</vt:lpstr>
      <vt:lpstr>TimesNewRomanPSMT</vt:lpstr>
      <vt:lpstr>Wingdings</vt:lpstr>
      <vt:lpstr>Office Theme</vt:lpstr>
      <vt:lpstr>Anayasa Yargısına Giriş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Anayasa hukuku</dc:title>
  <dc:subject/>
  <dc:creator>Kardelen Altun</dc:creator>
  <cp:lastModifiedBy>Kardelen Altun</cp:lastModifiedBy>
  <cp:revision>18</cp:revision>
  <dcterms:created xsi:type="dcterms:W3CDTF">2023-02-21T17:08:11Z</dcterms:created>
  <dcterms:modified xsi:type="dcterms:W3CDTF">2026-03-26T11:15:10Z</dcterms:modified>
</cp:coreProperties>
</file>