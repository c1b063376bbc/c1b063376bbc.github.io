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1"/>
  </p:notesMasterIdLst>
  <p:sldIdLst>
    <p:sldId id="278" r:id="rId2"/>
    <p:sldId id="297" r:id="rId3"/>
    <p:sldId id="343" r:id="rId4"/>
    <p:sldId id="344" r:id="rId5"/>
    <p:sldId id="323" r:id="rId6"/>
    <p:sldId id="345" r:id="rId7"/>
    <p:sldId id="325" r:id="rId8"/>
    <p:sldId id="346" r:id="rId9"/>
    <p:sldId id="348" r:id="rId10"/>
    <p:sldId id="347" r:id="rId11"/>
    <p:sldId id="349" r:id="rId12"/>
    <p:sldId id="352" r:id="rId13"/>
    <p:sldId id="350" r:id="rId14"/>
    <p:sldId id="351" r:id="rId15"/>
    <p:sldId id="353" r:id="rId16"/>
    <p:sldId id="354" r:id="rId17"/>
    <p:sldId id="355" r:id="rId18"/>
    <p:sldId id="356" r:id="rId19"/>
    <p:sldId id="293" r:id="rId2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7"/>
    <p:restoredTop sz="96327" autoAdjust="0"/>
  </p:normalViewPr>
  <p:slideViewPr>
    <p:cSldViewPr snapToGrid="0" snapToObjects="1">
      <p:cViewPr varScale="1">
        <p:scale>
          <a:sx n="117" d="100"/>
          <a:sy n="117" d="100"/>
        </p:scale>
        <p:origin x="376" y="184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87627DF-68F7-963C-60C6-8E1B72B6E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9496" y="4114484"/>
            <a:ext cx="3493008" cy="878908"/>
          </a:xfrm>
        </p:spPr>
        <p:txBody>
          <a:bodyPr/>
          <a:lstStyle/>
          <a:p>
            <a:r>
              <a:rPr lang="en-TR" dirty="0"/>
              <a:t>Ar. Gör. Kardelen Altun</a:t>
            </a:r>
          </a:p>
          <a:p>
            <a:r>
              <a:rPr lang="en-TR" dirty="0"/>
              <a:t>kardelenaltun@gmail.com</a:t>
            </a:r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2635" y="1844879"/>
            <a:ext cx="6400800" cy="2506404"/>
          </a:xfrm>
        </p:spPr>
        <p:txBody>
          <a:bodyPr anchor="ctr"/>
          <a:lstStyle/>
          <a:p>
            <a:pPr algn="ctr">
              <a:lnSpc>
                <a:spcPct val="200000"/>
              </a:lnSpc>
            </a:pPr>
            <a:r>
              <a:rPr lang="en-US" sz="3600" b="1" dirty="0" err="1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Anayasaya</a:t>
            </a:r>
            <a:r>
              <a:rPr lang="en-US" sz="3600" b="1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Uygunluk</a:t>
            </a:r>
            <a:r>
              <a:rPr lang="en-US" sz="3600" b="1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Denetiminde</a:t>
            </a:r>
            <a:r>
              <a:rPr lang="en-US" sz="3600" b="1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Ölçü</a:t>
            </a:r>
            <a:r>
              <a:rPr lang="en-US" sz="3600" b="1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Normlar</a:t>
            </a:r>
            <a:endParaRPr lang="en-US" sz="3600" b="1" dirty="0">
              <a:solidFill>
                <a:schemeClr val="accent6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(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Anayasallık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Bloku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)</a:t>
            </a:r>
            <a:endParaRPr lang="en-US" sz="3600" b="1" dirty="0">
              <a:solidFill>
                <a:schemeClr val="accent6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94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tr-TR" sz="2800" b="1" dirty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2800" b="1" dirty="0"/>
              <a:t>Bağımsız ölçü norm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2800" b="1" dirty="0"/>
              <a:t>Destek ölçü norm</a:t>
            </a:r>
          </a:p>
          <a:p>
            <a:endParaRPr lang="tr-TR" sz="2800" b="1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2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b="1" dirty="0"/>
              <a:t>Anayasal İlkeler, Anayasa Kuralları ve AYM Kararları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b="1" dirty="0"/>
              <a:t>Milletlerarası Hukuk Kuralları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b="1" dirty="0"/>
              <a:t>Hukukun Genel İlkeleri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b="1" dirty="0"/>
              <a:t>Atatürk İlke ve İnkılapları </a:t>
            </a:r>
          </a:p>
          <a:p>
            <a:endParaRPr lang="tr-TR" sz="2800" b="1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35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2635" y="1844879"/>
            <a:ext cx="6400800" cy="2506404"/>
          </a:xfrm>
        </p:spPr>
        <p:txBody>
          <a:bodyPr anchor="ctr"/>
          <a:lstStyle/>
          <a:p>
            <a:pPr algn="ctr">
              <a:lnSpc>
                <a:spcPct val="200000"/>
              </a:lnSpc>
            </a:pP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Soyut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Norm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Denetimi</a:t>
            </a:r>
            <a:endParaRPr lang="en-US" sz="3600" b="1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(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İptal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Davası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1736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tr-TR" sz="2800" b="1" dirty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2800" b="1" dirty="0"/>
              <a:t>Genel Kural m. 150, 151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2800" b="1" dirty="0"/>
              <a:t>İstisna m. 148/2</a:t>
            </a:r>
          </a:p>
          <a:p>
            <a:endParaRPr lang="tr-TR" sz="2800" b="1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63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 150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5" y="2386022"/>
            <a:ext cx="6906873" cy="312157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Kanunların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Cumhurbaşkanlığı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kararnamelerinin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Türkiye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Büyük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Millet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Meclisi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İçtüzüğünün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bunların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belirli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madde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hükümlerinin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şekil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esas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bakımından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Anayasaya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aykırılığı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iddiasıyla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Anayasa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Mahkemesinde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doğrudan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doğruya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iptal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davası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açabilme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hakkı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Cumhurbaşkanına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Türkiye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Büyük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Millet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Meclisinde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fazla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üyeye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sahip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iki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siyasi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parti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grubuna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üye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tamsayısının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az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beşte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biri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tutarındaki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üyelere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aittir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16533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 148/2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5" y="2301302"/>
            <a:ext cx="6906873" cy="312157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Kanunların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şekil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bakımından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denetlenmesi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son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oylamanın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öngörülen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çoğunlukla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yapılıp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yapılmadığı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Anayasa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değişikliklerinde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teklif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oylama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çoğunluğuna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ivedilikle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görüşülemeyeceği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şartına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uyulup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uyulmadığı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hususları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ile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sınırlıdır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Şekil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bakımından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denetleme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Cumhurbaşkanı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nca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Türkiye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Büyük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Millet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Meclisi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üyelerinin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beşte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tarafından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istenebilir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Kanunun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yayımlandığı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tarihten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itibaren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gün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geçtikten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sonra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şekil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bozukluğuna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dayalı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iptal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davası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açılamaz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def'i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yoluyla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ileri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sürülemez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5075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tr-TR" sz="2800" b="1" dirty="0"/>
              <a:t>	Dava Açma Yetkisi</a:t>
            </a:r>
          </a:p>
          <a:p>
            <a:pPr marL="861822" lvl="1" indent="-514350">
              <a:lnSpc>
                <a:spcPct val="200000"/>
              </a:lnSpc>
              <a:buFont typeface="+mj-lt"/>
              <a:buAutoNum type="arabicPeriod"/>
            </a:pPr>
            <a:r>
              <a:rPr lang="tr-TR" sz="2400" dirty="0"/>
              <a:t>Cumhurbaşkanı</a:t>
            </a:r>
          </a:p>
          <a:p>
            <a:pPr marL="861822" lvl="1" indent="-514350">
              <a:lnSpc>
                <a:spcPct val="200000"/>
              </a:lnSpc>
              <a:buFont typeface="+mj-lt"/>
              <a:buAutoNum type="arabicPeriod"/>
            </a:pPr>
            <a:r>
              <a:rPr lang="tr-TR" sz="2400" dirty="0"/>
              <a:t>TBMM </a:t>
            </a:r>
            <a:r>
              <a:rPr lang="tr-TR" sz="2400" u="sng" dirty="0"/>
              <a:t>Parti Grupları</a:t>
            </a:r>
          </a:p>
          <a:p>
            <a:pPr marL="861822" lvl="1" indent="-514350">
              <a:lnSpc>
                <a:spcPct val="200000"/>
              </a:lnSpc>
              <a:buFont typeface="+mj-lt"/>
              <a:buAutoNum type="arabicPeriod"/>
            </a:pPr>
            <a:r>
              <a:rPr lang="tr-TR" sz="2400" dirty="0"/>
              <a:t>1/5 milletvekili</a:t>
            </a:r>
          </a:p>
          <a:p>
            <a:endParaRPr lang="tr-TR" sz="2800" b="1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752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Dava Açma Süresi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Madde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151 –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Anayasa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Mahkemesinde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doğrudan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doğruya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iptal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davası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açma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hakkı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iptali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istenen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kanun,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Cumhurbaşkanlığı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kararnamesi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içtüzüğün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Resmi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̂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Gazetede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yayımlanmasından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başlayarak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altmıs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̧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gün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sonra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düşer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29071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F9F6-3585-E1CC-EBA0-0D26D7C5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10854-ABB4-BC39-5F9C-D1F2BB0D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2635" y="1844879"/>
            <a:ext cx="6400800" cy="2506404"/>
          </a:xfrm>
        </p:spPr>
        <p:txBody>
          <a:bodyPr anchor="ctr"/>
          <a:lstStyle/>
          <a:p>
            <a:pPr algn="ctr">
              <a:lnSpc>
                <a:spcPct val="200000"/>
              </a:lnSpc>
            </a:pP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Somut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Norm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Denetimi</a:t>
            </a:r>
            <a:endParaRPr lang="en-US" sz="3600" b="1" dirty="0"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(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İtiraz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Yolu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7796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50CC-85EE-567F-E8B7-26036BBC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13D525D-E6B1-ADCE-8473-71713B97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665C4C-8A9D-2546-A330-1C898259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A57CAE-60CF-2157-09FB-78BE91AC09C9}"/>
              </a:ext>
            </a:extLst>
          </p:cNvPr>
          <p:cNvSpPr txBox="1">
            <a:spLocks/>
          </p:cNvSpPr>
          <p:nvPr/>
        </p:nvSpPr>
        <p:spPr>
          <a:xfrm>
            <a:off x="3949788" y="1059869"/>
            <a:ext cx="3121572" cy="921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 152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AEA7AE-30AA-B92E-1486-75D589CB94BA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221F78-6552-72F1-CAF0-30C3B76E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4744" y="2309668"/>
            <a:ext cx="7812865" cy="227389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>
                <a:effectLst/>
                <a:latin typeface="TimesNewRomanPSMT"/>
              </a:rPr>
              <a:t>	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davaya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bakmakta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olan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mahkeme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uygulanacak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kanun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veya</a:t>
            </a:r>
            <a:r>
              <a:rPr lang="en-US" sz="1800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Cumhurbaşkanlığı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kararnamesinin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hükümlerini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Anayasaya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aykırı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görürse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taraflardan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birinin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ileri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sürdüğü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aykırılık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iddiasının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ciddi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olduğu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kanısına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varırsa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Anayasa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Mahkemesinin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konuda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vereceği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kadar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davayı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geri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u="sng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bırakır</a:t>
            </a:r>
            <a:r>
              <a:rPr lang="en-US" sz="1800" u="sng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745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957F1-7BA9-1A16-2813-14D39E02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7C09567-0D7E-051F-D2C6-92FD9267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50AAD87-0ED0-2890-E7FE-FAFA1DC6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7FF136-B177-26C3-8C3F-CA95E2A69641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İtiraz Yolunun Şartları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98AB72-6F41-89FD-8BA5-C7451A3F223A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D1DDC6B-E3D2-D108-5BBB-20E065253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Bakılmakta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olan</a:t>
            </a:r>
            <a:r>
              <a:rPr lang="en-US" sz="1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dava</a:t>
            </a:r>
            <a:endParaRPr lang="en-US" sz="18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Mahkeme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Davada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Uygulanacak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Norm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Anayasaya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Aykırılık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Kanısı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İddianın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Ciddiliği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236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C533-0917-48FD-0C5F-72FB18F22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DBE4C65-E7B8-D543-FE3C-2A86A0D5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8018436-C2B8-4187-FE0B-B796965F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A79366-3530-5849-9F24-4B71FFB03AB2}"/>
              </a:ext>
            </a:extLst>
          </p:cNvPr>
          <p:cNvSpPr txBox="1">
            <a:spLocks/>
          </p:cNvSpPr>
          <p:nvPr/>
        </p:nvSpPr>
        <p:spPr>
          <a:xfrm>
            <a:off x="4224528" y="1435125"/>
            <a:ext cx="4215280" cy="877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Bakılmakta Olan Dava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8660B1-0E40-9FFC-6F0D-A7E17FB1A0D1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9F713F4-007E-7F88-5621-EF3D2703A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Çekişmesiz</a:t>
            </a:r>
            <a:r>
              <a:rPr lang="en-US" sz="2000" dirty="0"/>
              <a:t> </a:t>
            </a:r>
            <a:r>
              <a:rPr lang="en-US" sz="2000" dirty="0" err="1"/>
              <a:t>yargı</a:t>
            </a:r>
            <a:r>
              <a:rPr lang="en-US" sz="2000" dirty="0"/>
              <a:t> </a:t>
            </a:r>
            <a:r>
              <a:rPr lang="en-US" sz="2000" dirty="0" err="1"/>
              <a:t>işleri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Kanun </a:t>
            </a:r>
            <a:r>
              <a:rPr lang="en-US" sz="2000" dirty="0" err="1"/>
              <a:t>yolları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İkincil</a:t>
            </a:r>
            <a:r>
              <a:rPr lang="en-US" sz="2000" dirty="0"/>
              <a:t> </a:t>
            </a:r>
            <a:r>
              <a:rPr lang="en-US" sz="2000" dirty="0" err="1"/>
              <a:t>dava</a:t>
            </a:r>
            <a:r>
              <a:rPr lang="en-US" sz="2000" dirty="0"/>
              <a:t> </a:t>
            </a:r>
            <a:r>
              <a:rPr lang="en-US" sz="2000" dirty="0" err="1"/>
              <a:t>veya</a:t>
            </a:r>
            <a:r>
              <a:rPr lang="en-US" sz="2000" dirty="0"/>
              <a:t> </a:t>
            </a:r>
            <a:r>
              <a:rPr lang="en-US" sz="2000" dirty="0" err="1"/>
              <a:t>işler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8549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C56C-4D36-86EF-9112-0F9DFDD6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417A123-10BC-4393-A7E6-09211537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22F3CA4-870E-FF2E-82C4-7513655D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B83B77-7B22-82A1-70B1-D682A52D3718}"/>
              </a:ext>
            </a:extLst>
          </p:cNvPr>
          <p:cNvSpPr txBox="1">
            <a:spLocks/>
          </p:cNvSpPr>
          <p:nvPr/>
        </p:nvSpPr>
        <p:spPr>
          <a:xfrm>
            <a:off x="3988360" y="594360"/>
            <a:ext cx="4215280" cy="877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Mahkeme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58C4BA2-E926-D3AA-7E71-F899A02EEF7B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5F84E79-8333-9322-E810-2B1338C77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0632" y="1260316"/>
            <a:ext cx="8079933" cy="5308650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Devletin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yargılama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fonksiyonunun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belirlenmesinde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iki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temel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yaklaşım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söz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konusudur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Maddi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anlamda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yargılama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faaliyeti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hukuki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uyuşmazlıkları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hukuka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aykırılık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iddialarını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çözümleyen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bağlayan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devlet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fonksiyonu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görülmektedir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Bu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anlayış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organik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açıdan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idare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içerisinde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yer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kimi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organ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kurulların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benzer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faaliyetlerinin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yargılama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faaliyeti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sayılması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sonucunu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doğurması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nedeniyle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yetersiz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kalmaktadır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(AYM, E.2012/102, K.2012/207, K.T. 27/12/2012).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Günümüzde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genel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kabul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gören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organik-şekli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ölçüte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göre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yargısal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faaliyet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kanunla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kurulan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bağımsız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tarafsız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kuruluşlar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tarafından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hukuki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uyuşmazlıkların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hukuka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aykırılık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iddialarının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özel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yargılama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usulleri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izlenerek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çözümlenmesi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kesin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hükme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bağlanması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faaliyeti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tanımlanmaktadır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Bağımsızlık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tarafsızlık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fonksiyonunu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idare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fonksiyonundan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ayıran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önemli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ölçüt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olup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yetkisini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kullanacak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merciin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çözülmesi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istenen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uyuşmazlığa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doğrudan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veya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dolaylı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taraf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olmayan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uyuşmazlığın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taraflarından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tamamen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bağımsız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kişi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veya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kişilerden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oluşmasını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gerektirmektedir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Öte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yandan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yargılama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faaliyetinde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idari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faaliyetten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farklı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uyuşmazlığın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çözümü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bağımsızlık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tarafsızlığı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güçlendiren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özel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yargılama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usulleri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izlenerek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gerçekleştirilmektedir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Ayrıca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organları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uyuşmazlığı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kesin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biçimde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çözerken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idare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organlarının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verdiği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kararlar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kural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kesin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nitelikte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değildir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Dolayısıyla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verilen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karşı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herhangi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organa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başvurulamaması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yargısal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kimlik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kazandıran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önemli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göstergedir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(AYM, E.2012/102, K.2012/207, K.T. 27/12/2012).</a:t>
            </a:r>
          </a:p>
          <a:p>
            <a:pPr algn="just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49750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42A9E-C1B7-D61D-D17F-625016A0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11AFB00-D378-3371-90B9-4329635E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9B23C-CA98-E30B-714B-89E4A79B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D6018B-6369-B898-C1AB-7A5032B49696}"/>
              </a:ext>
            </a:extLst>
          </p:cNvPr>
          <p:cNvSpPr txBox="1">
            <a:spLocks/>
          </p:cNvSpPr>
          <p:nvPr/>
        </p:nvSpPr>
        <p:spPr>
          <a:xfrm>
            <a:off x="4224528" y="1435125"/>
            <a:ext cx="5392438" cy="877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Davada Uygulanacak Norm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2D24BD-6E78-8E39-1FD7-5D5AAFEB8D55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A19E58-6420-45D9-5ACC-2487FBA86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0111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DEAF-DAF0-BA9A-87E2-C44D59F5E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8546C55-F483-277A-BA8C-21B3ED98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90B8899-659E-851B-C113-68794525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4562B8-0268-2235-C7B8-8C134D2909B9}"/>
              </a:ext>
            </a:extLst>
          </p:cNvPr>
          <p:cNvSpPr txBox="1">
            <a:spLocks/>
          </p:cNvSpPr>
          <p:nvPr/>
        </p:nvSpPr>
        <p:spPr>
          <a:xfrm>
            <a:off x="4224528" y="1435125"/>
            <a:ext cx="5392438" cy="1192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tr-TR" sz="2400" b="1" dirty="0"/>
              <a:t>Anayasaya Aykırılık Kanısı ve </a:t>
            </a:r>
          </a:p>
          <a:p>
            <a:pPr marL="0" lvl="1" indent="0">
              <a:buNone/>
            </a:pPr>
            <a:r>
              <a:rPr lang="tr-TR" sz="2400" b="1" dirty="0"/>
              <a:t>İddianın Ciddiliği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B02BF58-A66F-154E-2D1C-C8D419DE4F41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6C279F-6B37-B3FE-9BB3-18D41AA1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5" y="2796801"/>
            <a:ext cx="6906873" cy="3121573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Mahkemenin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kanısı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Anayasaya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aykırılık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iddiasının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ciddiliği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61366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76984-C987-576A-17BD-18BB7415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C4146F9-3385-A5F9-5EFC-2A4375AB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7C4E0B-384F-D9CF-60EF-6210A702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136277-B8C4-22E3-3514-DAA6327B5F22}"/>
              </a:ext>
            </a:extLst>
          </p:cNvPr>
          <p:cNvSpPr txBox="1">
            <a:spLocks/>
          </p:cNvSpPr>
          <p:nvPr/>
        </p:nvSpPr>
        <p:spPr>
          <a:xfrm>
            <a:off x="4224528" y="1435125"/>
            <a:ext cx="5392438" cy="1192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tr-TR" sz="2400" b="1" dirty="0"/>
              <a:t>On yıl süreli denetim yasağı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FD0F2E-9330-0A3E-0EB8-67B83E3BC851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2BB0A58-6E6C-6CC9-A76E-6CE5FAF5E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5" y="2796801"/>
            <a:ext cx="6906873" cy="312157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Anayasa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Mahkemesinin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işin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esasına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girerek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verdiği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red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kararının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Resmî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Gazetede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yayımlanmasından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sonra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yıl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geçmedikçe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aynı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kanun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hükmünün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Anayasaya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aykırılığı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iddiasıyla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tekrar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başvuruda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bulunulamaz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2239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5104980" cy="667512"/>
          </a:xfrm>
        </p:spPr>
        <p:txBody>
          <a:bodyPr/>
          <a:lstStyle/>
          <a:p>
            <a:r>
              <a:rPr lang="en-US" dirty="0" err="1"/>
              <a:t>Teşekkürler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Ar. </a:t>
            </a:r>
            <a:r>
              <a:rPr lang="en-US" dirty="0" err="1"/>
              <a:t>Gör</a:t>
            </a:r>
            <a:r>
              <a:rPr lang="en-US" dirty="0"/>
              <a:t>. Kardelen Altun</a:t>
            </a:r>
          </a:p>
          <a:p>
            <a:r>
              <a:rPr lang="en-US" dirty="0" err="1"/>
              <a:t>kardelenaltun@gmail.com</a:t>
            </a:r>
            <a:endParaRPr lang="en-US" dirty="0"/>
          </a:p>
          <a:p>
            <a:r>
              <a:rPr lang="en-US" dirty="0" err="1"/>
              <a:t>kardelenaltun@Ankara.edu.tr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6789</TotalTime>
  <Words>823</Words>
  <Application>Microsoft Macintosh PowerPoint</Application>
  <PresentationFormat>Geniş ekran</PresentationFormat>
  <Paragraphs>82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Calibri</vt:lpstr>
      <vt:lpstr>Sabon Next LT</vt:lpstr>
      <vt:lpstr>TimesNewRomanPSMT</vt:lpstr>
      <vt:lpstr>Office Theme</vt:lpstr>
      <vt:lpstr>Anayasa Yargısına Giriş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Anayasa hukuku</dc:title>
  <dc:subject/>
  <dc:creator>Kardelen Altun</dc:creator>
  <cp:lastModifiedBy>Kardelen Altun</cp:lastModifiedBy>
  <cp:revision>20</cp:revision>
  <dcterms:created xsi:type="dcterms:W3CDTF">2023-02-21T17:08:11Z</dcterms:created>
  <dcterms:modified xsi:type="dcterms:W3CDTF">2026-01-25T12:33:46Z</dcterms:modified>
</cp:coreProperties>
</file>